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19.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66" r:id="rId3"/>
    <p:sldId id="282" r:id="rId4"/>
    <p:sldId id="264" r:id="rId5"/>
    <p:sldId id="265" r:id="rId6"/>
    <p:sldId id="267" r:id="rId7"/>
    <p:sldId id="268" r:id="rId8"/>
    <p:sldId id="269" r:id="rId9"/>
    <p:sldId id="274" r:id="rId10"/>
    <p:sldId id="283" r:id="rId11"/>
    <p:sldId id="281" r:id="rId12"/>
    <p:sldId id="284" r:id="rId13"/>
    <p:sldId id="285" r:id="rId14"/>
    <p:sldId id="286" r:id="rId15"/>
    <p:sldId id="288" r:id="rId16"/>
    <p:sldId id="287" r:id="rId17"/>
    <p:sldId id="289" r:id="rId18"/>
    <p:sldId id="270" r:id="rId19"/>
    <p:sldId id="275" r:id="rId20"/>
    <p:sldId id="276" r:id="rId21"/>
    <p:sldId id="277" r:id="rId22"/>
    <p:sldId id="278" r:id="rId23"/>
    <p:sldId id="279" r:id="rId24"/>
    <p:sldId id="280" r:id="rId25"/>
    <p:sldId id="291" r:id="rId26"/>
    <p:sldId id="290" r:id="rId27"/>
    <p:sldId id="292" r:id="rId28"/>
    <p:sldId id="272" r:id="rId29"/>
    <p:sldId id="27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BAA10F-82AB-BF85-0D7E-B9C2AABE59F8}" name="Надежда Солдатова" initials="НС" userId="9f498887826ef39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392"/>
    <a:srgbClr val="013CBF"/>
    <a:srgbClr val="E90479"/>
    <a:srgbClr val="0133A3"/>
    <a:srgbClr val="E204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4" autoAdjust="0"/>
    <p:restoredTop sz="94660"/>
  </p:normalViewPr>
  <p:slideViewPr>
    <p:cSldViewPr snapToGrid="0">
      <p:cViewPr varScale="1">
        <p:scale>
          <a:sx n="88" d="100"/>
          <a:sy n="88" d="100"/>
        </p:scale>
        <p:origin x="90" y="65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96EC34F5-BDE2-4375-B83B-F49841317258}"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2663754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6EC34F5-BDE2-4375-B83B-F49841317258}"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360201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6EC34F5-BDE2-4375-B83B-F49841317258}"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2020916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6EC34F5-BDE2-4375-B83B-F49841317258}" type="datetimeFigureOut">
              <a:rPr lang="ru-RU" smtClean="0"/>
              <a:t>15.03.2023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2665430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6EC34F5-BDE2-4375-B83B-F49841317258}" type="datetimeFigureOut">
              <a:rPr lang="ru-RU" smtClean="0"/>
              <a:t>15.03.2023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964518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96EC34F5-BDE2-4375-B83B-F49841317258}" type="datetimeFigureOut">
              <a:rPr lang="ru-RU" smtClean="0"/>
              <a:t>15.03.2023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1744073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EC34F5-BDE2-4375-B83B-F49841317258}" type="datetimeFigureOut">
              <a:rPr lang="ru-RU" smtClean="0"/>
              <a:t>15.03.2023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761594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96EC34F5-BDE2-4375-B83B-F49841317258}" type="datetimeFigureOut">
              <a:rPr lang="ru-RU" smtClean="0"/>
              <a:t>15.03.2023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3752688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96EC34F5-BDE2-4375-B83B-F49841317258}" type="datetimeFigureOut">
              <a:rPr lang="ru-RU" smtClean="0"/>
              <a:t>15.03.2023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169878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6EC34F5-BDE2-4375-B83B-F49841317258}"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767824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6EC34F5-BDE2-4375-B83B-F49841317258}" type="datetimeFigureOut">
              <a:rPr lang="ru-RU" smtClean="0"/>
              <a:t>15.03.2023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F9AC15E-FCD1-4167-800F-1DB8497ABFCE}" type="slidenum">
              <a:rPr lang="ru-RU" smtClean="0"/>
              <a:t>‹#›</a:t>
            </a:fld>
            <a:endParaRPr lang="ru-RU"/>
          </a:p>
        </p:txBody>
      </p:sp>
    </p:spTree>
    <p:extLst>
      <p:ext uri="{BB962C8B-B14F-4D97-AF65-F5344CB8AC3E}">
        <p14:creationId xmlns:p14="http://schemas.microsoft.com/office/powerpoint/2010/main" val="737663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EC34F5-BDE2-4375-B83B-F49841317258}" type="datetimeFigureOut">
              <a:rPr lang="ru-RU" smtClean="0"/>
              <a:t>15.03.2023</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AC15E-FCD1-4167-800F-1DB8497ABFCE}" type="slidenum">
              <a:rPr lang="ru-RU" smtClean="0"/>
              <a:t>‹#›</a:t>
            </a:fld>
            <a:endParaRPr lang="ru-RU"/>
          </a:p>
        </p:txBody>
      </p:sp>
    </p:spTree>
    <p:extLst>
      <p:ext uri="{BB962C8B-B14F-4D97-AF65-F5344CB8AC3E}">
        <p14:creationId xmlns:p14="http://schemas.microsoft.com/office/powerpoint/2010/main" val="39508336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8.png"/><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4.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9.png"/><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050"/>
            <a:ext cx="12192000" cy="6883564"/>
          </a:xfrm>
          <a:prstGeom prst="rect">
            <a:avLst/>
          </a:prstGeom>
        </p:spPr>
      </p:pic>
      <p:sp>
        <p:nvSpPr>
          <p:cNvPr id="6" name="Заголовок 1"/>
          <p:cNvSpPr txBox="1">
            <a:spLocks/>
          </p:cNvSpPr>
          <p:nvPr/>
        </p:nvSpPr>
        <p:spPr>
          <a:xfrm>
            <a:off x="1037230" y="2179344"/>
            <a:ext cx="8788088" cy="233169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ru-RU" altLang="ru-RU" sz="5400" b="1" cap="all" dirty="0">
                <a:solidFill>
                  <a:srgbClr val="0133A3"/>
                </a:solidFill>
                <a:latin typeface="Arial" panose="020B0604020202020204" pitchFamily="34" charset="0"/>
                <a:cs typeface="Arial" panose="020B0604020202020204" pitchFamily="34" charset="0"/>
              </a:rPr>
              <a:t>Архиваторы. история, алгоритмы</a:t>
            </a:r>
          </a:p>
        </p:txBody>
      </p:sp>
      <p:sp>
        <p:nvSpPr>
          <p:cNvPr id="7" name="Прямоугольник 6"/>
          <p:cNvSpPr/>
          <p:nvPr/>
        </p:nvSpPr>
        <p:spPr>
          <a:xfrm>
            <a:off x="1037230" y="4239880"/>
            <a:ext cx="6628353" cy="954107"/>
          </a:xfrm>
          <a:prstGeom prst="rect">
            <a:avLst/>
          </a:prstGeom>
        </p:spPr>
        <p:txBody>
          <a:bodyPr wrap="none">
            <a:spAutoFit/>
          </a:bodyPr>
          <a:lstStyle/>
          <a:p>
            <a:r>
              <a:rPr lang="ru-RU" sz="2800" dirty="0">
                <a:latin typeface="Arial" panose="020B0604020202020204" pitchFamily="34" charset="0"/>
                <a:cs typeface="Arial" panose="020B0604020202020204" pitchFamily="34" charset="0"/>
              </a:rPr>
              <a:t>Докладчик</a:t>
            </a:r>
            <a:endParaRPr lang="en-US" sz="2800" dirty="0">
              <a:latin typeface="Arial" panose="020B0604020202020204" pitchFamily="34" charset="0"/>
              <a:cs typeface="Arial" panose="020B0604020202020204" pitchFamily="34" charset="0"/>
            </a:endParaRPr>
          </a:p>
          <a:p>
            <a:r>
              <a:rPr lang="ru-RU" sz="2800" b="1" dirty="0">
                <a:latin typeface="Arial" panose="020B0604020202020204" pitchFamily="34" charset="0"/>
                <a:cs typeface="Arial" panose="020B0604020202020204" pitchFamily="34" charset="0"/>
              </a:rPr>
              <a:t>Спиричева Наталия </a:t>
            </a:r>
            <a:r>
              <a:rPr lang="ru-RU" sz="2800" b="1" dirty="0" err="1">
                <a:latin typeface="Arial" panose="020B0604020202020204" pitchFamily="34" charset="0"/>
                <a:cs typeface="Arial" panose="020B0604020202020204" pitchFamily="34" charset="0"/>
              </a:rPr>
              <a:t>Рахматулловна</a:t>
            </a:r>
            <a:endParaRPr lang="ru-RU" sz="2800" b="1" dirty="0">
              <a:latin typeface="Arial" panose="020B0604020202020204" pitchFamily="34" charset="0"/>
              <a:cs typeface="Arial" panose="020B0604020202020204" pitchFamily="34" charset="0"/>
            </a:endParaRPr>
          </a:p>
        </p:txBody>
      </p:sp>
      <p:pic>
        <p:nvPicPr>
          <p:cNvPr id="8" name="Рисунок 7"/>
          <p:cNvPicPr>
            <a:picLocks noChangeAspect="1"/>
          </p:cNvPicPr>
          <p:nvPr/>
        </p:nvPicPr>
        <p:blipFill rotWithShape="1">
          <a:blip r:embed="rId4">
            <a:extLst>
              <a:ext uri="{28A0092B-C50C-407E-A947-70E740481C1C}">
                <a14:useLocalDpi xmlns:a14="http://schemas.microsoft.com/office/drawing/2010/main" val="0"/>
              </a:ext>
            </a:extLst>
          </a:blip>
          <a:srcRect l="6330" t="27061" r="44625" b="33918"/>
          <a:stretch/>
        </p:blipFill>
        <p:spPr>
          <a:xfrm>
            <a:off x="1037230" y="467642"/>
            <a:ext cx="2016631" cy="1070243"/>
          </a:xfrm>
          <a:prstGeom prst="rect">
            <a:avLst/>
          </a:prstGeom>
        </p:spPr>
      </p:pic>
      <p:graphicFrame>
        <p:nvGraphicFramePr>
          <p:cNvPr id="4" name="Объект 3"/>
          <p:cNvGraphicFramePr>
            <a:graphicFrameLocks noChangeAspect="1"/>
          </p:cNvGraphicFramePr>
          <p:nvPr>
            <p:extLst>
              <p:ext uri="{D42A27DB-BD31-4B8C-83A1-F6EECF244321}">
                <p14:modId xmlns:p14="http://schemas.microsoft.com/office/powerpoint/2010/main" val="3531946255"/>
              </p:ext>
            </p:extLst>
          </p:nvPr>
        </p:nvGraphicFramePr>
        <p:xfrm>
          <a:off x="1122098" y="775137"/>
          <a:ext cx="1949173" cy="882841"/>
        </p:xfrm>
        <a:graphic>
          <a:graphicData uri="http://schemas.openxmlformats.org/presentationml/2006/ole">
            <mc:AlternateContent xmlns:mc="http://schemas.openxmlformats.org/markup-compatibility/2006">
              <mc:Choice xmlns:v="urn:schemas-microsoft-com:vml" Requires="v">
                <p:oleObj spid="_x0000_s6163" name="CorelDRAW" r:id="rId5" imgW="893125" imgH="404520" progId="CorelDraw.Graphic.22">
                  <p:embed/>
                </p:oleObj>
              </mc:Choice>
              <mc:Fallback>
                <p:oleObj name="CorelDRAW" r:id="rId5" imgW="893125" imgH="404520" progId="CorelDraw.Graphic.22">
                  <p:embed/>
                  <p:pic>
                    <p:nvPicPr>
                      <p:cNvPr id="0" name=""/>
                      <p:cNvPicPr/>
                      <p:nvPr/>
                    </p:nvPicPr>
                    <p:blipFill>
                      <a:blip r:embed="rId6"/>
                      <a:stretch>
                        <a:fillRect/>
                      </a:stretch>
                    </p:blipFill>
                    <p:spPr>
                      <a:xfrm>
                        <a:off x="1122098" y="775137"/>
                        <a:ext cx="1949173" cy="882841"/>
                      </a:xfrm>
                      <a:prstGeom prst="rect">
                        <a:avLst/>
                      </a:prstGeom>
                    </p:spPr>
                  </p:pic>
                </p:oleObj>
              </mc:Fallback>
            </mc:AlternateContent>
          </a:graphicData>
        </a:graphic>
      </p:graphicFrame>
    </p:spTree>
    <p:extLst>
      <p:ext uri="{BB962C8B-B14F-4D97-AF65-F5344CB8AC3E}">
        <p14:creationId xmlns:p14="http://schemas.microsoft.com/office/powerpoint/2010/main" val="3952273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2307"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283224"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Виды сжатия информации</a:t>
            </a:r>
          </a:p>
        </p:txBody>
      </p:sp>
      <p:sp>
        <p:nvSpPr>
          <p:cNvPr id="3" name="TextBox 2">
            <a:extLst>
              <a:ext uri="{FF2B5EF4-FFF2-40B4-BE49-F238E27FC236}">
                <a16:creationId xmlns:a16="http://schemas.microsoft.com/office/drawing/2014/main" id="{EB0892B1-7CAD-4BA8-A9F2-21C8F5F37F87}"/>
              </a:ext>
            </a:extLst>
          </p:cNvPr>
          <p:cNvSpPr txBox="1"/>
          <p:nvPr/>
        </p:nvSpPr>
        <p:spPr>
          <a:xfrm>
            <a:off x="877648" y="3429000"/>
            <a:ext cx="9261434" cy="2308324"/>
          </a:xfrm>
          <a:prstGeom prst="rect">
            <a:avLst/>
          </a:prstGeom>
          <a:noFill/>
        </p:spPr>
        <p:txBody>
          <a:bodyPr wrap="square" rtlCol="0">
            <a:spAutoFit/>
          </a:bodyPr>
          <a:lstStyle/>
          <a:p>
            <a:pPr rtl="0">
              <a:spcBef>
                <a:spcPts val="0"/>
              </a:spcBef>
              <a:spcAft>
                <a:spcPts val="0"/>
              </a:spcAft>
            </a:pPr>
            <a:r>
              <a:rPr lang="ru-RU" b="1" dirty="0">
                <a:solidFill>
                  <a:srgbClr val="E90479"/>
                </a:solidFill>
                <a:latin typeface="Arial" panose="020B0604020202020204" pitchFamily="34" charset="0"/>
              </a:rPr>
              <a:t>2</a:t>
            </a:r>
            <a:r>
              <a:rPr lang="ru-RU" sz="1800" b="1" i="0" u="none" strike="noStrike" dirty="0">
                <a:solidFill>
                  <a:srgbClr val="E90479"/>
                </a:solidFill>
                <a:effectLst/>
                <a:latin typeface="Arial" panose="020B0604020202020204" pitchFamily="34" charset="0"/>
              </a:rPr>
              <a:t>. Без потери информации</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Алгоритмы сжатия без потерь применяются для уменьшения размера данных, и работают таким образом, что возможно восстановить данные в точности такими, какие они были до сжатия. </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Применяется в коммуникациях, архиваторах и некоторых алгоритмах сжатии аудио и графической информации. </a:t>
            </a:r>
            <a:r>
              <a:rPr lang="ru-RU" dirty="0"/>
              <a:t/>
            </a:r>
            <a:br>
              <a:rPr lang="ru-RU" dirty="0"/>
            </a:br>
            <a:endParaRPr lang="ru-RU" dirty="0"/>
          </a:p>
        </p:txBody>
      </p:sp>
      <p:sp>
        <p:nvSpPr>
          <p:cNvPr id="5" name="TextBox 4">
            <a:extLst>
              <a:ext uri="{FF2B5EF4-FFF2-40B4-BE49-F238E27FC236}">
                <a16:creationId xmlns:a16="http://schemas.microsoft.com/office/drawing/2014/main" id="{14A3E047-B636-4369-8BCE-CB15FA5C1582}"/>
              </a:ext>
            </a:extLst>
          </p:cNvPr>
          <p:cNvSpPr txBox="1"/>
          <p:nvPr/>
        </p:nvSpPr>
        <p:spPr>
          <a:xfrm>
            <a:off x="877648" y="1319823"/>
            <a:ext cx="9261434" cy="2308324"/>
          </a:xfrm>
          <a:prstGeom prst="rect">
            <a:avLst/>
          </a:prstGeom>
          <a:noFill/>
        </p:spPr>
        <p:txBody>
          <a:bodyPr wrap="square" rtlCol="0">
            <a:spAutoFit/>
          </a:bodyPr>
          <a:lstStyle/>
          <a:p>
            <a:pPr rtl="0">
              <a:spcBef>
                <a:spcPts val="0"/>
              </a:spcBef>
              <a:spcAft>
                <a:spcPts val="0"/>
              </a:spcAft>
            </a:pPr>
            <a:r>
              <a:rPr lang="ru-RU" sz="1800" b="1" i="0" u="none" strike="noStrike" dirty="0">
                <a:solidFill>
                  <a:srgbClr val="E90479"/>
                </a:solidFill>
                <a:effectLst/>
                <a:latin typeface="Arial" panose="020B0604020202020204" pitchFamily="34" charset="0"/>
              </a:rPr>
              <a:t>1. С частичной потерей информации</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Алгоритмы с потерями обычно применяются для сжатия изображений и аудио. </a:t>
            </a:r>
          </a:p>
          <a:p>
            <a:pPr rtl="0">
              <a:spcBef>
                <a:spcPts val="0"/>
              </a:spcBef>
              <a:spcAft>
                <a:spcPts val="0"/>
              </a:spcAft>
            </a:pPr>
            <a:r>
              <a:rPr lang="ru-RU" sz="1800" b="0" i="0" u="none" strike="noStrike" dirty="0">
                <a:solidFill>
                  <a:srgbClr val="111111"/>
                </a:solidFill>
                <a:effectLst/>
                <a:latin typeface="Arial" panose="020B0604020202020204" pitchFamily="34" charset="0"/>
              </a:rPr>
              <a:t>Эти алгоритмы позволяют достичь больших степеней сжатия благодаря избирательной потере качества. Однако, по определению, восстановить первоначальные данные из сжатого результата невозможно.</a:t>
            </a:r>
            <a:endParaRPr lang="ru-RU" b="0" dirty="0">
              <a:effectLst/>
            </a:endParaRPr>
          </a:p>
          <a:p>
            <a:r>
              <a:rPr lang="ru-RU" dirty="0"/>
              <a:t/>
            </a:r>
            <a:br>
              <a:rPr lang="ru-RU" dirty="0"/>
            </a:br>
            <a:endParaRPr lang="ru-RU" dirty="0"/>
          </a:p>
        </p:txBody>
      </p:sp>
    </p:spTree>
    <p:extLst>
      <p:ext uri="{BB962C8B-B14F-4D97-AF65-F5344CB8AC3E}">
        <p14:creationId xmlns:p14="http://schemas.microsoft.com/office/powerpoint/2010/main" val="2172322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9709"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283224"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Виды сжатия информации</a:t>
            </a:r>
          </a:p>
        </p:txBody>
      </p:sp>
      <p:sp>
        <p:nvSpPr>
          <p:cNvPr id="5" name="TextBox 4">
            <a:extLst>
              <a:ext uri="{FF2B5EF4-FFF2-40B4-BE49-F238E27FC236}">
                <a16:creationId xmlns:a16="http://schemas.microsoft.com/office/drawing/2014/main" id="{14A3E047-B636-4369-8BCE-CB15FA5C1582}"/>
              </a:ext>
            </a:extLst>
          </p:cNvPr>
          <p:cNvSpPr txBox="1"/>
          <p:nvPr/>
        </p:nvSpPr>
        <p:spPr>
          <a:xfrm>
            <a:off x="1251857" y="1415143"/>
            <a:ext cx="9666514" cy="4524315"/>
          </a:xfrm>
          <a:prstGeom prst="rect">
            <a:avLst/>
          </a:prstGeom>
          <a:noFill/>
        </p:spPr>
        <p:txBody>
          <a:bodyPr wrap="square" rtlCol="0">
            <a:spAutoFit/>
          </a:bodyPr>
          <a:lstStyle/>
          <a:p>
            <a:r>
              <a:rPr lang="ru-RU" dirty="0">
                <a:latin typeface="Arial" panose="020B0604020202020204" pitchFamily="34" charset="0"/>
                <a:ea typeface="Calibri" panose="020F0502020204030204" pitchFamily="34" charset="0"/>
                <a:cs typeface="Arial" panose="020B0604020202020204" pitchFamily="34" charset="0"/>
              </a:rPr>
              <a:t>Современное общество использует цифровой вид представления информации во многих сферах жизнедеятельности. </a:t>
            </a:r>
            <a:r>
              <a:rPr lang="ru-RU" dirty="0" smtClean="0">
                <a:latin typeface="Arial" panose="020B0604020202020204" pitchFamily="34" charset="0"/>
                <a:ea typeface="Calibri" panose="020F0502020204030204" pitchFamily="34" charset="0"/>
                <a:cs typeface="Arial" panose="020B0604020202020204" pitchFamily="34" charset="0"/>
              </a:rPr>
              <a:t>На </a:t>
            </a:r>
            <a:r>
              <a:rPr lang="ru-RU" dirty="0">
                <a:latin typeface="Arial" panose="020B0604020202020204" pitchFamily="34" charset="0"/>
                <a:ea typeface="Calibri" panose="020F0502020204030204" pitchFamily="34" charset="0"/>
                <a:cs typeface="Arial" panose="020B0604020202020204" pitchFamily="34" charset="0"/>
              </a:rPr>
              <a:t>данный момент развития информационной инфраструктуры, существующие каналы не справляются с требуемым траффиком. Следовательно, задача сжатия данных является актуальной во многих приложениях обработки и передачи информации. Все стандарты сжатия данных в той или иной мере используют алгоритмы </a:t>
            </a:r>
            <a:r>
              <a:rPr lang="ru-RU" dirty="0" err="1">
                <a:solidFill>
                  <a:srgbClr val="013CBF"/>
                </a:solidFill>
                <a:latin typeface="Arial" panose="020B0604020202020204" pitchFamily="34" charset="0"/>
                <a:ea typeface="Calibri" panose="020F0502020204030204" pitchFamily="34" charset="0"/>
                <a:cs typeface="Arial" panose="020B0604020202020204" pitchFamily="34" charset="0"/>
              </a:rPr>
              <a:t>энтропийного</a:t>
            </a:r>
            <a:r>
              <a:rPr lang="ru-RU" dirty="0">
                <a:solidFill>
                  <a:srgbClr val="013CBF"/>
                </a:solidFill>
                <a:latin typeface="Arial" panose="020B0604020202020204" pitchFamily="34" charset="0"/>
                <a:ea typeface="Calibri" panose="020F0502020204030204" pitchFamily="34" charset="0"/>
                <a:cs typeface="Arial" panose="020B0604020202020204" pitchFamily="34" charset="0"/>
              </a:rPr>
              <a:t> кодирования</a:t>
            </a:r>
            <a:r>
              <a:rPr lang="ru-RU" dirty="0">
                <a:latin typeface="Arial" panose="020B0604020202020204" pitchFamily="34" charset="0"/>
                <a:ea typeface="Calibri" panose="020F0502020204030204" pitchFamily="34" charset="0"/>
                <a:cs typeface="Arial" panose="020B0604020202020204" pitchFamily="34" charset="0"/>
              </a:rPr>
              <a:t>. </a:t>
            </a:r>
            <a:endParaRPr lang="ru-RU" dirty="0" smtClean="0">
              <a:latin typeface="Arial" panose="020B0604020202020204" pitchFamily="34" charset="0"/>
              <a:ea typeface="Calibri" panose="020F0502020204030204" pitchFamily="34" charset="0"/>
              <a:cs typeface="Arial" panose="020B0604020202020204" pitchFamily="34" charset="0"/>
            </a:endParaRPr>
          </a:p>
          <a:p>
            <a:endParaRPr lang="ru-RU" dirty="0" smtClean="0">
              <a:latin typeface="Arial" panose="020B0604020202020204" pitchFamily="34" charset="0"/>
              <a:ea typeface="Calibri" panose="020F0502020204030204" pitchFamily="34" charset="0"/>
              <a:cs typeface="Arial" panose="020B0604020202020204" pitchFamily="34" charset="0"/>
            </a:endParaRPr>
          </a:p>
          <a:p>
            <a:r>
              <a:rPr lang="ru-RU" dirty="0" smtClean="0">
                <a:latin typeface="Arial" panose="020B0604020202020204" pitchFamily="34" charset="0"/>
                <a:ea typeface="Calibri" panose="020F0502020204030204" pitchFamily="34" charset="0"/>
                <a:cs typeface="Arial" panose="020B0604020202020204" pitchFamily="34" charset="0"/>
              </a:rPr>
              <a:t>Под </a:t>
            </a:r>
            <a:r>
              <a:rPr lang="ru-RU" dirty="0" err="1">
                <a:latin typeface="Arial" panose="020B0604020202020204" pitchFamily="34" charset="0"/>
                <a:ea typeface="Calibri" panose="020F0502020204030204" pitchFamily="34" charset="0"/>
                <a:cs typeface="Arial" panose="020B0604020202020204" pitchFamily="34" charset="0"/>
              </a:rPr>
              <a:t>энтропийным</a:t>
            </a:r>
            <a:r>
              <a:rPr lang="ru-RU" dirty="0">
                <a:latin typeface="Arial" panose="020B0604020202020204" pitchFamily="34" charset="0"/>
                <a:ea typeface="Calibri" panose="020F0502020204030204" pitchFamily="34" charset="0"/>
                <a:cs typeface="Arial" panose="020B0604020202020204" pitchFamily="34" charset="0"/>
              </a:rPr>
              <a:t> кодированием понимается кодирование, при котором энтропия сжатых данных совпадает с энтропией исходного источника и по сжатым данным можно полностью восстановить исходную информацию. Такой подход принято называть сжатием без потерь. Это сжатие, например, применяется в дистрибутивах программных продуктов. Это наиболее изученная область сжатия данных. Она является весьма важной, поскольку большинство методов компрессии самых разных типов цифровой информации часто используют на определенных стадиях алгоритмы сжатия без потерь. Можно сказать, что компрессия без потерь является экстремальным случаем сжатия, при котором энтропия данных остается </a:t>
            </a:r>
            <a:r>
              <a:rPr lang="ru-RU" dirty="0" smtClean="0">
                <a:latin typeface="Arial" panose="020B0604020202020204" pitchFamily="34" charset="0"/>
                <a:ea typeface="Calibri" panose="020F0502020204030204" pitchFamily="34" charset="0"/>
                <a:cs typeface="Arial" panose="020B0604020202020204" pitchFamily="34" charset="0"/>
              </a:rPr>
              <a:t>неизменной</a:t>
            </a:r>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4185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extLst>
              <p:ext uri="{D42A27DB-BD31-4B8C-83A1-F6EECF244321}">
                <p14:modId xmlns:p14="http://schemas.microsoft.com/office/powerpoint/2010/main" val="1357960039"/>
              </p:ext>
            </p:extLst>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068" name="CorelDRAW" r:id="rId3" imgW="8774967" imgH="470848" progId="CorelDraw.Graphic.22">
                  <p:embed/>
                </p:oleObj>
              </mc:Choice>
              <mc:Fallback>
                <p:oleObj name="CorelDRAW" r:id="rId3" imgW="8774967" imgH="470848" progId="CorelDraw.Graphic.22">
                  <p:embed/>
                  <p:pic>
                    <p:nvPicPr>
                      <p:cNvPr id="0" name=""/>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2004523"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Вступление</a:t>
            </a:r>
          </a:p>
        </p:txBody>
      </p:sp>
      <p:sp>
        <p:nvSpPr>
          <p:cNvPr id="3" name="TextBox 2">
            <a:extLst>
              <a:ext uri="{FF2B5EF4-FFF2-40B4-BE49-F238E27FC236}">
                <a16:creationId xmlns:a16="http://schemas.microsoft.com/office/drawing/2014/main" id="{EB0892B1-7CAD-4BA8-A9F2-21C8F5F37F87}"/>
              </a:ext>
            </a:extLst>
          </p:cNvPr>
          <p:cNvSpPr txBox="1"/>
          <p:nvPr/>
        </p:nvSpPr>
        <p:spPr>
          <a:xfrm>
            <a:off x="815790" y="1272988"/>
            <a:ext cx="11019024" cy="5450851"/>
          </a:xfrm>
          <a:prstGeom prst="rect">
            <a:avLst/>
          </a:prstGeom>
          <a:noFill/>
        </p:spPr>
        <p:txBody>
          <a:bodyPr wrap="square" rtlCol="0">
            <a:spAutoFit/>
          </a:bodyPr>
          <a:lstStyle/>
          <a:p>
            <a:pPr rtl="0">
              <a:spcBef>
                <a:spcPts val="0"/>
              </a:spcBef>
              <a:spcAft>
                <a:spcPts val="0"/>
              </a:spcAft>
            </a:pPr>
            <a:r>
              <a:rPr lang="ru-RU" sz="1800" b="0" i="0" u="none" strike="noStrike" dirty="0">
                <a:solidFill>
                  <a:srgbClr val="000000"/>
                </a:solidFill>
                <a:effectLst/>
                <a:latin typeface="Arial" panose="020B0604020202020204" pitchFamily="34" charset="0"/>
              </a:rPr>
              <a:t>Архиваторы – это программы, реализующие определенные методы сжатия.</a:t>
            </a:r>
            <a:endParaRPr lang="en-AU" sz="1800" b="0" i="0" u="none" strike="noStrike" dirty="0">
              <a:solidFill>
                <a:srgbClr val="000000"/>
              </a:solidFill>
              <a:effectLst/>
              <a:latin typeface="Arial" panose="020B0604020202020204" pitchFamily="34" charset="0"/>
            </a:endParaRPr>
          </a:p>
          <a:p>
            <a:pPr>
              <a:lnSpc>
                <a:spcPct val="150000"/>
              </a:lnSpc>
            </a:pPr>
            <a:endParaRPr lang="en-AU" dirty="0">
              <a:solidFill>
                <a:srgbClr val="000000"/>
              </a:solidFill>
              <a:latin typeface="Arial" panose="020B0604020202020204" pitchFamily="34" charset="0"/>
            </a:endParaRPr>
          </a:p>
          <a:p>
            <a:pPr rtl="0">
              <a:spcBef>
                <a:spcPts val="0"/>
              </a:spcBef>
              <a:spcAft>
                <a:spcPts val="0"/>
              </a:spcAft>
            </a:pPr>
            <a:r>
              <a:rPr lang="ru-RU" b="1" dirty="0">
                <a:solidFill>
                  <a:srgbClr val="E90479"/>
                </a:solidFill>
                <a:latin typeface="Arial" panose="020B0604020202020204" pitchFamily="34" charset="0"/>
              </a:rPr>
              <a:t>Применение архиваторов</a:t>
            </a:r>
          </a:p>
          <a:p>
            <a:pPr rtl="0">
              <a:spcBef>
                <a:spcPts val="0"/>
              </a:spcBef>
              <a:spcAft>
                <a:spcPts val="0"/>
              </a:spcAft>
            </a:pPr>
            <a:endParaRPr lang="ru-RU" b="1" dirty="0">
              <a:solidFill>
                <a:srgbClr val="E90479"/>
              </a:solidFill>
              <a:latin typeface="Arial" panose="020B0604020202020204" pitchFamily="34" charset="0"/>
            </a:endParaRPr>
          </a:p>
          <a:p>
            <a:pPr rtl="0">
              <a:lnSpc>
                <a:spcPct val="150000"/>
              </a:lnSpc>
              <a:spcBef>
                <a:spcPts val="0"/>
              </a:spcBef>
              <a:spcAft>
                <a:spcPts val="0"/>
              </a:spcAft>
            </a:pPr>
            <a:r>
              <a:rPr lang="ru-RU" sz="1800" b="0" i="0" u="none" strike="noStrike" dirty="0">
                <a:solidFill>
                  <a:srgbClr val="000000"/>
                </a:solidFill>
                <a:effectLst/>
                <a:latin typeface="Arial" panose="020B0604020202020204" pitchFamily="34" charset="0"/>
              </a:rPr>
              <a:t>Архиваторы применяют с целью: </a:t>
            </a:r>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000000"/>
                </a:solidFill>
                <a:effectLst/>
                <a:latin typeface="Arial" panose="020B0604020202020204" pitchFamily="34" charset="0"/>
              </a:rPr>
              <a:t>повышения эффективности носителя – на один носитель поместить больший объем информации;</a:t>
            </a:r>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000000"/>
                </a:solidFill>
                <a:effectLst/>
                <a:latin typeface="Arial" panose="020B0604020202020204" pitchFamily="34" charset="0"/>
              </a:rPr>
              <a:t>защиты данных от несанкционированного доступа паролем;</a:t>
            </a:r>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000000"/>
                </a:solidFill>
                <a:effectLst/>
                <a:latin typeface="Arial" panose="020B0604020202020204" pitchFamily="34" charset="0"/>
              </a:rPr>
              <a:t>увеличения скорости копирования данных с диска на диск;</a:t>
            </a:r>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000000"/>
                </a:solidFill>
                <a:effectLst/>
                <a:latin typeface="Arial" panose="020B0604020202020204" pitchFamily="34" charset="0"/>
              </a:rPr>
              <a:t>быстрого восстановления данных.</a:t>
            </a:r>
          </a:p>
          <a:p>
            <a:pPr rtl="0">
              <a:lnSpc>
                <a:spcPct val="150000"/>
              </a:lnSpc>
              <a:spcBef>
                <a:spcPts val="0"/>
              </a:spcBef>
              <a:spcAft>
                <a:spcPts val="0"/>
              </a:spcAft>
            </a:pPr>
            <a:r>
              <a:rPr lang="ru-RU" sz="1800" b="0" i="0" u="none" strike="noStrike" dirty="0">
                <a:solidFill>
                  <a:srgbClr val="000000"/>
                </a:solidFill>
                <a:effectLst/>
                <a:latin typeface="Arial" panose="020B0604020202020204" pitchFamily="34" charset="0"/>
              </a:rPr>
              <a:t>Большинство данных являются избыточными. Избыточность улучшает восприятие и обработку информации, но при хранении избыточность уменьшают.</a:t>
            </a:r>
            <a:br>
              <a:rPr lang="ru-RU" sz="1800" b="0" i="0" u="none" strike="noStrike" dirty="0">
                <a:solidFill>
                  <a:srgbClr val="000000"/>
                </a:solidFill>
                <a:effectLst/>
                <a:latin typeface="Arial" panose="020B0604020202020204" pitchFamily="34" charset="0"/>
              </a:rPr>
            </a:br>
            <a:r>
              <a:rPr lang="ru-RU" sz="1800" b="0" i="0" u="none" strike="noStrike" dirty="0">
                <a:solidFill>
                  <a:srgbClr val="000000"/>
                </a:solidFill>
                <a:effectLst/>
                <a:latin typeface="Arial" panose="020B0604020202020204" pitchFamily="34" charset="0"/>
              </a:rPr>
              <a:t>Наибольшая избыточность у видеоинформации, затем идет графическая, звуковая, и самая низкая избыточность у текстовой информации</a:t>
            </a:r>
            <a:endParaRPr lang="ru-RU" b="0" dirty="0">
              <a:effectLst/>
            </a:endParaRPr>
          </a:p>
          <a:p>
            <a:pPr>
              <a:lnSpc>
                <a:spcPct val="150000"/>
              </a:lnSpc>
            </a:pPr>
            <a:endParaRPr lang="ru-RU" dirty="0"/>
          </a:p>
        </p:txBody>
      </p:sp>
    </p:spTree>
    <p:extLst>
      <p:ext uri="{BB962C8B-B14F-4D97-AF65-F5344CB8AC3E}">
        <p14:creationId xmlns:p14="http://schemas.microsoft.com/office/powerpoint/2010/main" val="1460565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1283"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374898"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Сжатие информации</a:t>
            </a:r>
          </a:p>
        </p:txBody>
      </p:sp>
      <p:sp>
        <p:nvSpPr>
          <p:cNvPr id="3" name="TextBox 2">
            <a:extLst>
              <a:ext uri="{FF2B5EF4-FFF2-40B4-BE49-F238E27FC236}">
                <a16:creationId xmlns:a16="http://schemas.microsoft.com/office/drawing/2014/main" id="{EB0892B1-7CAD-4BA8-A9F2-21C8F5F37F87}"/>
              </a:ext>
            </a:extLst>
          </p:cNvPr>
          <p:cNvSpPr txBox="1"/>
          <p:nvPr/>
        </p:nvSpPr>
        <p:spPr>
          <a:xfrm>
            <a:off x="877648" y="1319823"/>
            <a:ext cx="9261434" cy="4756559"/>
          </a:xfrm>
          <a:prstGeom prst="rect">
            <a:avLst/>
          </a:prstGeom>
          <a:noFill/>
        </p:spPr>
        <p:txBody>
          <a:bodyPr wrap="square" rtlCol="0">
            <a:spAutoFit/>
          </a:bodyPr>
          <a:lstStyle/>
          <a:p>
            <a:pPr rtl="0">
              <a:spcBef>
                <a:spcPts val="0"/>
              </a:spcBef>
              <a:spcAft>
                <a:spcPts val="0"/>
              </a:spcAft>
            </a:pPr>
            <a:r>
              <a:rPr lang="ru-RU" sz="1800" b="0" i="0" u="none" strike="noStrike" dirty="0">
                <a:solidFill>
                  <a:srgbClr val="111111"/>
                </a:solidFill>
                <a:effectLst/>
                <a:latin typeface="Arial" panose="020B0604020202020204" pitchFamily="34" charset="0"/>
              </a:rPr>
              <a:t>Основной принцип алгоритмов сжатия</a:t>
            </a:r>
            <a:r>
              <a:rPr lang="en-AU" sz="1800" b="0" i="0" u="none" strike="noStrike" dirty="0">
                <a:solidFill>
                  <a:srgbClr val="111111"/>
                </a:solidFill>
                <a:effectLst/>
                <a:latin typeface="Arial" panose="020B0604020202020204" pitchFamily="34" charset="0"/>
              </a:rPr>
              <a:t>:</a:t>
            </a:r>
          </a:p>
          <a:p>
            <a:pPr rtl="0">
              <a:spcBef>
                <a:spcPts val="0"/>
              </a:spcBef>
              <a:spcAft>
                <a:spcPts val="0"/>
              </a:spcAft>
            </a:pPr>
            <a:endParaRPr lang="en-AU" sz="1800" b="0" i="0" u="none" strike="noStrike" dirty="0">
              <a:solidFill>
                <a:srgbClr val="111111"/>
              </a:solidFill>
              <a:effectLst/>
              <a:latin typeface="Arial" panose="020B0604020202020204" pitchFamily="34" charset="0"/>
            </a:endParaRPr>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111111"/>
                </a:solidFill>
                <a:effectLst/>
                <a:latin typeface="Arial" panose="020B0604020202020204" pitchFamily="34" charset="0"/>
              </a:rPr>
              <a:t>В любом файле, содержащем неслучайные данные, информация частично повторяется. </a:t>
            </a:r>
            <a:endParaRPr lang="ru-RU" dirty="0"/>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111111"/>
                </a:solidFill>
                <a:effectLst/>
                <a:latin typeface="Arial" panose="020B0604020202020204" pitchFamily="34" charset="0"/>
              </a:rPr>
              <a:t>Используя статистические математические модели можно определить вероятность повторения определенной комбинации символов.</a:t>
            </a:r>
          </a:p>
          <a:p>
            <a:pPr marL="285750" indent="-285750" rtl="0">
              <a:lnSpc>
                <a:spcPct val="150000"/>
              </a:lnSpc>
              <a:spcBef>
                <a:spcPts val="0"/>
              </a:spcBef>
              <a:spcAft>
                <a:spcPts val="0"/>
              </a:spcAft>
              <a:buFont typeface="Arial" panose="020B0604020202020204" pitchFamily="34" charset="0"/>
              <a:buChar char="•"/>
            </a:pPr>
            <a:r>
              <a:rPr lang="ru-RU" sz="1800" b="0" i="0" u="none" strike="noStrike" dirty="0">
                <a:solidFill>
                  <a:srgbClr val="111111"/>
                </a:solidFill>
                <a:effectLst/>
                <a:latin typeface="Arial" panose="020B0604020202020204" pitchFamily="34" charset="0"/>
              </a:rPr>
              <a:t>После этого можно создать коды, обозначающие выбранные фразы, и назначить самым часто повторяющимся фразам самые короткие коды. Для этого используются разные техники, например: энтропийное кодирование, кодирование повторов, и сжатие при помощи словаря. С их помощью 8-битный символ, или целая строка, могут быть заменены всего лишь несколькими битами, устраняя таким образом излишнюю информацию.</a:t>
            </a:r>
            <a:endParaRPr lang="ru-RU" b="0" dirty="0">
              <a:effectLst/>
            </a:endParaRPr>
          </a:p>
        </p:txBody>
      </p:sp>
    </p:spTree>
    <p:extLst>
      <p:ext uri="{BB962C8B-B14F-4D97-AF65-F5344CB8AC3E}">
        <p14:creationId xmlns:p14="http://schemas.microsoft.com/office/powerpoint/2010/main" val="337379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3331"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101875"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a:t>
            </a:r>
          </a:p>
        </p:txBody>
      </p:sp>
      <p:sp>
        <p:nvSpPr>
          <p:cNvPr id="3" name="TextBox 2">
            <a:extLst>
              <a:ext uri="{FF2B5EF4-FFF2-40B4-BE49-F238E27FC236}">
                <a16:creationId xmlns:a16="http://schemas.microsoft.com/office/drawing/2014/main" id="{EB0892B1-7CAD-4BA8-A9F2-21C8F5F37F87}"/>
              </a:ext>
            </a:extLst>
          </p:cNvPr>
          <p:cNvSpPr txBox="1"/>
          <p:nvPr/>
        </p:nvSpPr>
        <p:spPr>
          <a:xfrm>
            <a:off x="877647" y="2520152"/>
            <a:ext cx="9261433" cy="3970318"/>
          </a:xfrm>
          <a:prstGeom prst="rect">
            <a:avLst/>
          </a:prstGeom>
          <a:noFill/>
        </p:spPr>
        <p:txBody>
          <a:bodyPr wrap="square" rtlCol="0">
            <a:spAutoFit/>
          </a:bodyPr>
          <a:lstStyle/>
          <a:p>
            <a:pPr rtl="0">
              <a:spcBef>
                <a:spcPts val="0"/>
              </a:spcBef>
              <a:spcAft>
                <a:spcPts val="0"/>
              </a:spcAft>
            </a:pPr>
            <a:r>
              <a:rPr lang="ru-RU" sz="1800" b="0" i="0" u="none" strike="noStrike" dirty="0">
                <a:solidFill>
                  <a:srgbClr val="000000"/>
                </a:solidFill>
                <a:effectLst/>
                <a:latin typeface="Arial" panose="020B0604020202020204" pitchFamily="34" charset="0"/>
              </a:rPr>
              <a:t>Структура алгоритма:</a:t>
            </a:r>
            <a:endParaRPr lang="ru-RU" dirty="0">
              <a:solidFill>
                <a:srgbClr val="000000"/>
              </a:solidFill>
              <a:latin typeface="Arial" panose="020B0604020202020204" pitchFamily="34" charset="0"/>
            </a:endParaRPr>
          </a:p>
          <a:p>
            <a:pPr marL="342900" indent="-342900" rtl="0">
              <a:spcBef>
                <a:spcPts val="0"/>
              </a:spcBef>
              <a:spcAft>
                <a:spcPts val="0"/>
              </a:spcAft>
              <a:buFont typeface="+mj-lt"/>
              <a:buAutoNum type="arabicPeriod"/>
            </a:pPr>
            <a:r>
              <a:rPr lang="ru-RU" sz="1800" b="0" i="0" u="none" strike="noStrike" dirty="0" err="1">
                <a:solidFill>
                  <a:srgbClr val="111111"/>
                </a:solidFill>
                <a:effectLst/>
                <a:latin typeface="Arial" panose="020B0604020202020204" pitchFamily="34" charset="0"/>
              </a:rPr>
              <a:t>Парсим</a:t>
            </a:r>
            <a:r>
              <a:rPr lang="ru-RU" sz="1800" b="0" i="0" u="none" strike="noStrike" dirty="0">
                <a:solidFill>
                  <a:srgbClr val="111111"/>
                </a:solidFill>
                <a:effectLst/>
                <a:latin typeface="Arial" panose="020B0604020202020204" pitchFamily="34" charset="0"/>
              </a:rPr>
              <a:t> ввод, считаем количество повторений символов</a:t>
            </a:r>
            <a:r>
              <a:rPr lang="ru-RU" dirty="0">
                <a:solidFill>
                  <a:srgbClr val="111111"/>
                </a:solidFill>
                <a:latin typeface="Arial" panose="020B0604020202020204" pitchFamily="34" charset="0"/>
              </a:rPr>
              <a:t>.</a:t>
            </a:r>
            <a:endParaRPr lang="en-AU" sz="1800" b="0" i="0" u="none" strike="noStrike" dirty="0">
              <a:solidFill>
                <a:srgbClr val="111111"/>
              </a:solidFill>
              <a:effectLst/>
              <a:latin typeface="Arial" panose="020B0604020202020204" pitchFamily="34" charset="0"/>
            </a:endParaRPr>
          </a:p>
          <a:p>
            <a:pPr marL="342900" indent="-342900" rtl="0">
              <a:spcBef>
                <a:spcPts val="0"/>
              </a:spcBef>
              <a:spcAft>
                <a:spcPts val="0"/>
              </a:spcAft>
              <a:buFont typeface="+mj-lt"/>
              <a:buAutoNum type="arabicPeriod"/>
            </a:pPr>
            <a:r>
              <a:rPr lang="ru-RU" sz="1800" b="0" i="0" u="none" strike="noStrike" dirty="0">
                <a:solidFill>
                  <a:srgbClr val="111111"/>
                </a:solidFill>
                <a:effectLst/>
                <a:latin typeface="Arial" panose="020B0604020202020204" pitchFamily="34" charset="0"/>
              </a:rPr>
              <a:t>Определяем вероятность появления каждого символа.</a:t>
            </a:r>
            <a:endParaRPr lang="en-AU" dirty="0"/>
          </a:p>
          <a:p>
            <a:pPr marL="342900" indent="-342900" rtl="0">
              <a:spcBef>
                <a:spcPts val="0"/>
              </a:spcBef>
              <a:spcAft>
                <a:spcPts val="0"/>
              </a:spcAft>
              <a:buFont typeface="+mj-lt"/>
              <a:buAutoNum type="arabicPeriod"/>
            </a:pPr>
            <a:r>
              <a:rPr lang="ru-RU" sz="1800" b="0" i="0" u="none" strike="noStrike" dirty="0">
                <a:solidFill>
                  <a:srgbClr val="111111"/>
                </a:solidFill>
                <a:effectLst/>
                <a:latin typeface="Arial" panose="020B0604020202020204" pitchFamily="34" charset="0"/>
              </a:rPr>
              <a:t>Сортируем список по вероятностям (самые частые вначале).</a:t>
            </a:r>
            <a:endParaRPr lang="en-AU" dirty="0"/>
          </a:p>
          <a:p>
            <a:pPr marL="342900" indent="-342900" rtl="0">
              <a:spcBef>
                <a:spcPts val="0"/>
              </a:spcBef>
              <a:spcAft>
                <a:spcPts val="0"/>
              </a:spcAft>
              <a:buFont typeface="+mj-lt"/>
              <a:buAutoNum type="arabicPeriod"/>
            </a:pPr>
            <a:r>
              <a:rPr lang="ru-RU" sz="1800" b="0" i="0" u="none" strike="noStrike" dirty="0">
                <a:solidFill>
                  <a:srgbClr val="111111"/>
                </a:solidFill>
                <a:effectLst/>
                <a:latin typeface="Arial" panose="020B0604020202020204" pitchFamily="34" charset="0"/>
              </a:rPr>
              <a:t>Создаем листы для каждого символа, и добавляем их в очередь.</a:t>
            </a:r>
            <a:endParaRPr lang="en-AU" dirty="0"/>
          </a:p>
          <a:p>
            <a:pPr marL="342900" indent="-342900" rtl="0">
              <a:spcBef>
                <a:spcPts val="0"/>
              </a:spcBef>
              <a:spcAft>
                <a:spcPts val="0"/>
              </a:spcAft>
              <a:buFont typeface="+mj-lt"/>
              <a:buAutoNum type="arabicPeriod"/>
            </a:pPr>
            <a:r>
              <a:rPr lang="ru-RU" sz="1800" b="0" i="0" u="none" strike="noStrike" dirty="0">
                <a:solidFill>
                  <a:srgbClr val="111111"/>
                </a:solidFill>
                <a:effectLst/>
                <a:latin typeface="Arial" panose="020B0604020202020204" pitchFamily="34" charset="0"/>
              </a:rPr>
              <a:t>Пока очередь состоит более, чем из одного символа:</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	— берем из очереди два листа с наименьшими вероятностями;</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	— к коду первой прибавляем 0, к коду второй – 1;</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	— создаем узел с вероятностью, равной сумме вероятностей двух </a:t>
            </a:r>
            <a:r>
              <a:rPr lang="ru-RU" sz="1800" b="0" i="0" u="none" strike="noStrike" dirty="0" err="1">
                <a:solidFill>
                  <a:srgbClr val="111111"/>
                </a:solidFill>
                <a:effectLst/>
                <a:latin typeface="Arial" panose="020B0604020202020204" pitchFamily="34" charset="0"/>
              </a:rPr>
              <a:t>нод</a:t>
            </a:r>
            <a:r>
              <a:rPr lang="ru-RU" sz="1800" b="0" i="0" u="none" strike="noStrike" dirty="0">
                <a:solidFill>
                  <a:srgbClr val="111111"/>
                </a:solidFill>
                <a:effectLst/>
                <a:latin typeface="Arial" panose="020B0604020202020204" pitchFamily="34" charset="0"/>
              </a:rPr>
              <a:t>;</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	— первую </a:t>
            </a:r>
            <a:r>
              <a:rPr lang="ru-RU" sz="1800" b="0" i="0" u="none" strike="noStrike" dirty="0" err="1">
                <a:solidFill>
                  <a:srgbClr val="111111"/>
                </a:solidFill>
                <a:effectLst/>
                <a:latin typeface="Arial" panose="020B0604020202020204" pitchFamily="34" charset="0"/>
              </a:rPr>
              <a:t>ноду</a:t>
            </a:r>
            <a:r>
              <a:rPr lang="ru-RU" sz="1800" b="0" i="0" u="none" strike="noStrike" dirty="0">
                <a:solidFill>
                  <a:srgbClr val="111111"/>
                </a:solidFill>
                <a:effectLst/>
                <a:latin typeface="Arial" panose="020B0604020202020204" pitchFamily="34" charset="0"/>
              </a:rPr>
              <a:t> вешаем на левую сторону, вторую – на правую;</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	— добавляем полученный узел в очередь.</a:t>
            </a:r>
            <a:endParaRPr lang="ru-RU" b="0" dirty="0">
              <a:effectLst/>
            </a:endParaRPr>
          </a:p>
          <a:p>
            <a:pPr rtl="0">
              <a:spcBef>
                <a:spcPts val="0"/>
              </a:spcBef>
              <a:spcAft>
                <a:spcPts val="0"/>
              </a:spcAft>
            </a:pPr>
            <a:r>
              <a:rPr lang="ru-RU" sz="1800" b="0" i="0" u="none" strike="noStrike" dirty="0">
                <a:solidFill>
                  <a:srgbClr val="111111"/>
                </a:solidFill>
                <a:effectLst/>
                <a:latin typeface="Arial" panose="020B0604020202020204" pitchFamily="34" charset="0"/>
              </a:rPr>
              <a:t>6. Последняя </a:t>
            </a:r>
            <a:r>
              <a:rPr lang="ru-RU" sz="1800" b="0" i="0" u="none" strike="noStrike" dirty="0" err="1">
                <a:solidFill>
                  <a:srgbClr val="111111"/>
                </a:solidFill>
                <a:effectLst/>
                <a:latin typeface="Arial" panose="020B0604020202020204" pitchFamily="34" charset="0"/>
              </a:rPr>
              <a:t>нода</a:t>
            </a:r>
            <a:r>
              <a:rPr lang="ru-RU" sz="1800" b="0" i="0" u="none" strike="noStrike" dirty="0">
                <a:solidFill>
                  <a:srgbClr val="111111"/>
                </a:solidFill>
                <a:effectLst/>
                <a:latin typeface="Arial" panose="020B0604020202020204" pitchFamily="34" charset="0"/>
              </a:rPr>
              <a:t> в очереди будет корнем двоичного дерева.</a:t>
            </a:r>
            <a:endParaRPr lang="ru-RU" b="0" dirty="0">
              <a:effectLst/>
            </a:endParaRPr>
          </a:p>
          <a:p>
            <a:r>
              <a:rPr lang="ru-RU" dirty="0"/>
              <a:t/>
            </a:r>
            <a:br>
              <a:rPr lang="ru-RU" dirty="0"/>
            </a:br>
            <a:endParaRPr lang="ru-RU" sz="1800" b="0" i="0" u="none" strike="noStrike" dirty="0">
              <a:effectLst/>
              <a:latin typeface="Arial" panose="020B0604020202020204" pitchFamily="34" charset="0"/>
            </a:endParaRPr>
          </a:p>
        </p:txBody>
      </p:sp>
      <p:sp>
        <p:nvSpPr>
          <p:cNvPr id="8" name="TextBox 7">
            <a:extLst>
              <a:ext uri="{FF2B5EF4-FFF2-40B4-BE49-F238E27FC236}">
                <a16:creationId xmlns:a16="http://schemas.microsoft.com/office/drawing/2014/main" id="{467DF8DA-846E-48BA-BF87-77261700AFA7}"/>
              </a:ext>
            </a:extLst>
          </p:cNvPr>
          <p:cNvSpPr txBox="1"/>
          <p:nvPr/>
        </p:nvSpPr>
        <p:spPr>
          <a:xfrm>
            <a:off x="877648" y="1319823"/>
            <a:ext cx="9261434" cy="1200329"/>
          </a:xfrm>
          <a:prstGeom prst="rect">
            <a:avLst/>
          </a:prstGeom>
          <a:noFill/>
        </p:spPr>
        <p:txBody>
          <a:bodyPr wrap="square" rtlCol="0">
            <a:spAutoFit/>
          </a:bodyPr>
          <a:lstStyle/>
          <a:p>
            <a:pPr rtl="0">
              <a:spcBef>
                <a:spcPts val="0"/>
              </a:spcBef>
              <a:spcAft>
                <a:spcPts val="0"/>
              </a:spcAft>
            </a:pPr>
            <a:r>
              <a:rPr lang="ru-RU" sz="1800" b="1" i="0" u="none" strike="noStrike" dirty="0">
                <a:solidFill>
                  <a:srgbClr val="E90479"/>
                </a:solidFill>
                <a:effectLst/>
                <a:latin typeface="Arial" panose="020B0604020202020204" pitchFamily="34" charset="0"/>
              </a:rPr>
              <a:t>1. Алгоритм Хаффмана</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spcBef>
                <a:spcPts val="0"/>
              </a:spcBef>
              <a:spcAft>
                <a:spcPts val="0"/>
              </a:spcAft>
            </a:pPr>
            <a:r>
              <a:rPr lang="ru-RU" sz="1800" b="0" i="0" u="none" strike="noStrike" dirty="0">
                <a:effectLst/>
                <a:latin typeface="Arial" panose="020B0604020202020204" pitchFamily="34" charset="0"/>
              </a:rPr>
              <a:t>Алгоритм Хаффмана разработан в 1952 году доктором </a:t>
            </a:r>
            <a:r>
              <a:rPr lang="en-AU" sz="1800" b="0" i="0" u="none" strike="noStrike" dirty="0">
                <a:effectLst/>
                <a:latin typeface="Arial" panose="020B0604020202020204" pitchFamily="34" charset="0"/>
              </a:rPr>
              <a:t>MIT </a:t>
            </a:r>
            <a:r>
              <a:rPr lang="ru-RU" sz="1800" b="0" i="0" u="none" strike="noStrike" dirty="0">
                <a:effectLst/>
                <a:latin typeface="Arial" panose="020B0604020202020204" pitchFamily="34" charset="0"/>
              </a:rPr>
              <a:t>Дэвидом Хаффманом.</a:t>
            </a:r>
            <a:r>
              <a:rPr lang="ru-RU" sz="1800" b="0" i="0" u="none" strike="noStrike" dirty="0">
                <a:solidFill>
                  <a:srgbClr val="444444"/>
                </a:solidFill>
                <a:effectLst/>
                <a:latin typeface="Arial" panose="020B0604020202020204" pitchFamily="34" charset="0"/>
              </a:rPr>
              <a:t> </a:t>
            </a:r>
            <a:r>
              <a:rPr lang="ru-RU" dirty="0"/>
              <a:t/>
            </a:r>
            <a:br>
              <a:rPr lang="ru-RU" dirty="0"/>
            </a:br>
            <a:endParaRPr lang="ru-RU" dirty="0"/>
          </a:p>
        </p:txBody>
      </p:sp>
    </p:spTree>
    <p:extLst>
      <p:ext uri="{BB962C8B-B14F-4D97-AF65-F5344CB8AC3E}">
        <p14:creationId xmlns:p14="http://schemas.microsoft.com/office/powerpoint/2010/main" val="335693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4357"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101875"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a:t>
            </a:r>
          </a:p>
        </p:txBody>
      </p:sp>
      <p:sp>
        <p:nvSpPr>
          <p:cNvPr id="3" name="TextBox 2">
            <a:extLst>
              <a:ext uri="{FF2B5EF4-FFF2-40B4-BE49-F238E27FC236}">
                <a16:creationId xmlns:a16="http://schemas.microsoft.com/office/drawing/2014/main" id="{EB0892B1-7CAD-4BA8-A9F2-21C8F5F37F87}"/>
              </a:ext>
            </a:extLst>
          </p:cNvPr>
          <p:cNvSpPr txBox="1"/>
          <p:nvPr/>
        </p:nvSpPr>
        <p:spPr>
          <a:xfrm>
            <a:off x="877647" y="2952296"/>
            <a:ext cx="9261433" cy="369332"/>
          </a:xfrm>
          <a:prstGeom prst="rect">
            <a:avLst/>
          </a:prstGeom>
          <a:noFill/>
        </p:spPr>
        <p:txBody>
          <a:bodyPr wrap="square" rtlCol="0">
            <a:spAutoFit/>
          </a:bodyPr>
          <a:lstStyle/>
          <a:p>
            <a:pPr rtl="0">
              <a:spcBef>
                <a:spcPts val="0"/>
              </a:spcBef>
              <a:spcAft>
                <a:spcPts val="0"/>
              </a:spcAft>
            </a:pPr>
            <a:r>
              <a:rPr lang="ru-RU" sz="1800" b="0" i="0" u="none" strike="noStrike" dirty="0">
                <a:solidFill>
                  <a:srgbClr val="000000"/>
                </a:solidFill>
                <a:effectLst/>
                <a:latin typeface="Arial" panose="020B0604020202020204" pitchFamily="34" charset="0"/>
              </a:rPr>
              <a:t>Берем эти числа и будем называть их частотой вхождения для каждого символа.</a:t>
            </a:r>
            <a:endParaRPr lang="ru-RU" sz="1800" b="0" i="0" u="none" strike="noStrike" dirty="0">
              <a:effectLst/>
              <a:latin typeface="Arial" panose="020B0604020202020204" pitchFamily="34" charset="0"/>
            </a:endParaRP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9261434" cy="1200329"/>
          </a:xfrm>
          <a:prstGeom prst="rect">
            <a:avLst/>
          </a:prstGeom>
          <a:noFill/>
        </p:spPr>
        <p:txBody>
          <a:bodyPr wrap="square" rtlCol="0">
            <a:spAutoFit/>
          </a:bodyPr>
          <a:lstStyle/>
          <a:p>
            <a:pPr rtl="0">
              <a:spcBef>
                <a:spcPts val="0"/>
              </a:spcBef>
              <a:spcAft>
                <a:spcPts val="0"/>
              </a:spcAft>
            </a:pPr>
            <a:r>
              <a:rPr lang="ru-RU" sz="1800" b="1" i="0" u="none" strike="noStrike" dirty="0">
                <a:solidFill>
                  <a:srgbClr val="E90479"/>
                </a:solidFill>
                <a:effectLst/>
                <a:latin typeface="Arial" panose="020B0604020202020204" pitchFamily="34" charset="0"/>
              </a:rPr>
              <a:t>Пример алгоритма Хаффмана</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spcBef>
                <a:spcPts val="0"/>
              </a:spcBef>
              <a:spcAft>
                <a:spcPts val="0"/>
              </a:spcAft>
            </a:pPr>
            <a:r>
              <a:rPr lang="ru-RU" sz="1800" b="0" i="0" u="none" strike="noStrike" dirty="0">
                <a:solidFill>
                  <a:srgbClr val="000000"/>
                </a:solidFill>
                <a:effectLst/>
                <a:latin typeface="Arial" panose="020B0604020202020204" pitchFamily="34" charset="0"/>
              </a:rPr>
              <a:t>Дан файл длиной в 100 байт и имеющий 6 различных символов в себе . Мы подсчитали вхождение каждого из символов в файл и получили следующее :</a:t>
            </a:r>
            <a:endParaRPr lang="ru-RU" dirty="0"/>
          </a:p>
        </p:txBody>
      </p:sp>
      <p:graphicFrame>
        <p:nvGraphicFramePr>
          <p:cNvPr id="4" name="Таблица 4">
            <a:extLst>
              <a:ext uri="{FF2B5EF4-FFF2-40B4-BE49-F238E27FC236}">
                <a16:creationId xmlns:a16="http://schemas.microsoft.com/office/drawing/2014/main" id="{D85F94BF-8A19-4FEC-AF52-3D2016AEB5C4}"/>
              </a:ext>
            </a:extLst>
          </p:cNvPr>
          <p:cNvGraphicFramePr>
            <a:graphicFrameLocks noGrp="1"/>
          </p:cNvGraphicFramePr>
          <p:nvPr>
            <p:extLst>
              <p:ext uri="{D42A27DB-BD31-4B8C-83A1-F6EECF244321}">
                <p14:modId xmlns:p14="http://schemas.microsoft.com/office/powerpoint/2010/main" val="1716948618"/>
              </p:ext>
            </p:extLst>
          </p:nvPr>
        </p:nvGraphicFramePr>
        <p:xfrm>
          <a:off x="2176951" y="2172870"/>
          <a:ext cx="7446682" cy="741680"/>
        </p:xfrm>
        <a:graphic>
          <a:graphicData uri="http://schemas.openxmlformats.org/drawingml/2006/table">
            <a:tbl>
              <a:tblPr firstRow="1" bandRow="1">
                <a:tableStyleId>{5C22544A-7EE6-4342-B048-85BDC9FD1C3A}</a:tableStyleId>
              </a:tblPr>
              <a:tblGrid>
                <a:gridCol w="1942352">
                  <a:extLst>
                    <a:ext uri="{9D8B030D-6E8A-4147-A177-3AD203B41FA5}">
                      <a16:colId xmlns:a16="http://schemas.microsoft.com/office/drawing/2014/main" val="3810560271"/>
                    </a:ext>
                  </a:extLst>
                </a:gridCol>
                <a:gridCol w="923365">
                  <a:extLst>
                    <a:ext uri="{9D8B030D-6E8A-4147-A177-3AD203B41FA5}">
                      <a16:colId xmlns:a16="http://schemas.microsoft.com/office/drawing/2014/main" val="4281652835"/>
                    </a:ext>
                  </a:extLst>
                </a:gridCol>
                <a:gridCol w="914400">
                  <a:extLst>
                    <a:ext uri="{9D8B030D-6E8A-4147-A177-3AD203B41FA5}">
                      <a16:colId xmlns:a16="http://schemas.microsoft.com/office/drawing/2014/main" val="1351460570"/>
                    </a:ext>
                  </a:extLst>
                </a:gridCol>
                <a:gridCol w="941294">
                  <a:extLst>
                    <a:ext uri="{9D8B030D-6E8A-4147-A177-3AD203B41FA5}">
                      <a16:colId xmlns:a16="http://schemas.microsoft.com/office/drawing/2014/main" val="2766137029"/>
                    </a:ext>
                  </a:extLst>
                </a:gridCol>
                <a:gridCol w="869577">
                  <a:extLst>
                    <a:ext uri="{9D8B030D-6E8A-4147-A177-3AD203B41FA5}">
                      <a16:colId xmlns:a16="http://schemas.microsoft.com/office/drawing/2014/main" val="2540837967"/>
                    </a:ext>
                  </a:extLst>
                </a:gridCol>
                <a:gridCol w="896470">
                  <a:extLst>
                    <a:ext uri="{9D8B030D-6E8A-4147-A177-3AD203B41FA5}">
                      <a16:colId xmlns:a16="http://schemas.microsoft.com/office/drawing/2014/main" val="1168184135"/>
                    </a:ext>
                  </a:extLst>
                </a:gridCol>
                <a:gridCol w="959224">
                  <a:extLst>
                    <a:ext uri="{9D8B030D-6E8A-4147-A177-3AD203B41FA5}">
                      <a16:colId xmlns:a16="http://schemas.microsoft.com/office/drawing/2014/main" val="3262975738"/>
                    </a:ext>
                  </a:extLst>
                </a:gridCol>
              </a:tblGrid>
              <a:tr h="370840">
                <a:tc>
                  <a:txBody>
                    <a:bodyPr/>
                    <a:lstStyle/>
                    <a:p>
                      <a:pPr algn="ctr"/>
                      <a:r>
                        <a:rPr lang="ru-RU" b="0" dirty="0">
                          <a:solidFill>
                            <a:schemeClr val="tx1"/>
                          </a:solidFill>
                        </a:rPr>
                        <a:t>Символ</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A</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B</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C</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D</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E</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F</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352508"/>
                  </a:ext>
                </a:extLst>
              </a:tr>
              <a:tr h="370840">
                <a:tc>
                  <a:txBody>
                    <a:bodyPr/>
                    <a:lstStyle/>
                    <a:p>
                      <a:pPr algn="ctr"/>
                      <a:r>
                        <a:rPr lang="ru-RU" b="0" dirty="0">
                          <a:solidFill>
                            <a:schemeClr val="tx1"/>
                          </a:solidFill>
                        </a:rPr>
                        <a:t>Число вхождений</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10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20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30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5</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25</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10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961137"/>
                  </a:ext>
                </a:extLst>
              </a:tr>
            </a:tbl>
          </a:graphicData>
        </a:graphic>
      </p:graphicFrame>
      <p:graphicFrame>
        <p:nvGraphicFramePr>
          <p:cNvPr id="9" name="Таблица 4">
            <a:extLst>
              <a:ext uri="{FF2B5EF4-FFF2-40B4-BE49-F238E27FC236}">
                <a16:creationId xmlns:a16="http://schemas.microsoft.com/office/drawing/2014/main" id="{0B7A774A-B28A-4EAB-A5BF-879CE97A4A69}"/>
              </a:ext>
            </a:extLst>
          </p:cNvPr>
          <p:cNvGraphicFramePr>
            <a:graphicFrameLocks noGrp="1"/>
          </p:cNvGraphicFramePr>
          <p:nvPr>
            <p:extLst>
              <p:ext uri="{D42A27DB-BD31-4B8C-83A1-F6EECF244321}">
                <p14:modId xmlns:p14="http://schemas.microsoft.com/office/powerpoint/2010/main" val="3809327926"/>
              </p:ext>
            </p:extLst>
          </p:nvPr>
        </p:nvGraphicFramePr>
        <p:xfrm>
          <a:off x="2176951" y="3379987"/>
          <a:ext cx="7446682" cy="741680"/>
        </p:xfrm>
        <a:graphic>
          <a:graphicData uri="http://schemas.openxmlformats.org/drawingml/2006/table">
            <a:tbl>
              <a:tblPr firstRow="1" bandRow="1">
                <a:tableStyleId>{5C22544A-7EE6-4342-B048-85BDC9FD1C3A}</a:tableStyleId>
              </a:tblPr>
              <a:tblGrid>
                <a:gridCol w="1942352">
                  <a:extLst>
                    <a:ext uri="{9D8B030D-6E8A-4147-A177-3AD203B41FA5}">
                      <a16:colId xmlns:a16="http://schemas.microsoft.com/office/drawing/2014/main" val="3810560271"/>
                    </a:ext>
                  </a:extLst>
                </a:gridCol>
                <a:gridCol w="923365">
                  <a:extLst>
                    <a:ext uri="{9D8B030D-6E8A-4147-A177-3AD203B41FA5}">
                      <a16:colId xmlns:a16="http://schemas.microsoft.com/office/drawing/2014/main" val="4281652835"/>
                    </a:ext>
                  </a:extLst>
                </a:gridCol>
                <a:gridCol w="914400">
                  <a:extLst>
                    <a:ext uri="{9D8B030D-6E8A-4147-A177-3AD203B41FA5}">
                      <a16:colId xmlns:a16="http://schemas.microsoft.com/office/drawing/2014/main" val="1351460570"/>
                    </a:ext>
                  </a:extLst>
                </a:gridCol>
                <a:gridCol w="941294">
                  <a:extLst>
                    <a:ext uri="{9D8B030D-6E8A-4147-A177-3AD203B41FA5}">
                      <a16:colId xmlns:a16="http://schemas.microsoft.com/office/drawing/2014/main" val="2766137029"/>
                    </a:ext>
                  </a:extLst>
                </a:gridCol>
                <a:gridCol w="869577">
                  <a:extLst>
                    <a:ext uri="{9D8B030D-6E8A-4147-A177-3AD203B41FA5}">
                      <a16:colId xmlns:a16="http://schemas.microsoft.com/office/drawing/2014/main" val="2540837967"/>
                    </a:ext>
                  </a:extLst>
                </a:gridCol>
                <a:gridCol w="896470">
                  <a:extLst>
                    <a:ext uri="{9D8B030D-6E8A-4147-A177-3AD203B41FA5}">
                      <a16:colId xmlns:a16="http://schemas.microsoft.com/office/drawing/2014/main" val="1168184135"/>
                    </a:ext>
                  </a:extLst>
                </a:gridCol>
                <a:gridCol w="959224">
                  <a:extLst>
                    <a:ext uri="{9D8B030D-6E8A-4147-A177-3AD203B41FA5}">
                      <a16:colId xmlns:a16="http://schemas.microsoft.com/office/drawing/2014/main" val="3262975738"/>
                    </a:ext>
                  </a:extLst>
                </a:gridCol>
              </a:tblGrid>
              <a:tr h="370840">
                <a:tc>
                  <a:txBody>
                    <a:bodyPr/>
                    <a:lstStyle/>
                    <a:p>
                      <a:pPr algn="ctr"/>
                      <a:r>
                        <a:rPr lang="ru-RU" b="0" dirty="0">
                          <a:solidFill>
                            <a:schemeClr val="tx1"/>
                          </a:solidFill>
                        </a:rPr>
                        <a:t>Символ</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C</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E</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B</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F</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A</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D</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352508"/>
                  </a:ext>
                </a:extLst>
              </a:tr>
              <a:tr h="370840">
                <a:tc>
                  <a:txBody>
                    <a:bodyPr/>
                    <a:lstStyle/>
                    <a:p>
                      <a:pPr algn="ctr"/>
                      <a:r>
                        <a:rPr lang="ru-RU" b="0" dirty="0">
                          <a:solidFill>
                            <a:schemeClr val="tx1"/>
                          </a:solidFill>
                        </a:rPr>
                        <a:t>Число вхождений</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30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25</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20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10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10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5</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961137"/>
                  </a:ext>
                </a:extLst>
              </a:tr>
            </a:tbl>
          </a:graphicData>
        </a:graphic>
      </p:graphicFrame>
      <p:sp>
        <p:nvSpPr>
          <p:cNvPr id="10" name="TextBox 9">
            <a:extLst>
              <a:ext uri="{FF2B5EF4-FFF2-40B4-BE49-F238E27FC236}">
                <a16:creationId xmlns:a16="http://schemas.microsoft.com/office/drawing/2014/main" id="{905990F4-452A-4EFE-ACC7-6F30FF7ABA61}"/>
              </a:ext>
            </a:extLst>
          </p:cNvPr>
          <p:cNvSpPr txBox="1"/>
          <p:nvPr/>
        </p:nvSpPr>
        <p:spPr>
          <a:xfrm>
            <a:off x="877646" y="4180026"/>
            <a:ext cx="9261433" cy="1200329"/>
          </a:xfrm>
          <a:prstGeom prst="rect">
            <a:avLst/>
          </a:prstGeom>
          <a:noFill/>
        </p:spPr>
        <p:txBody>
          <a:bodyPr wrap="square" rtlCol="0">
            <a:spAutoFit/>
          </a:bodyPr>
          <a:lstStyle/>
          <a:p>
            <a:pPr rtl="0">
              <a:spcBef>
                <a:spcPts val="0"/>
              </a:spcBef>
              <a:spcAft>
                <a:spcPts val="0"/>
              </a:spcAft>
            </a:pPr>
            <a:r>
              <a:rPr lang="ru-RU" dirty="0">
                <a:solidFill>
                  <a:srgbClr val="000000"/>
                </a:solidFill>
                <a:latin typeface="Arial" panose="020B0604020202020204" pitchFamily="34" charset="0"/>
              </a:rPr>
              <a:t>Далее берем </a:t>
            </a:r>
            <a:r>
              <a:rPr lang="ru-RU" sz="1800" b="0" i="0" u="none" strike="noStrike" dirty="0">
                <a:solidFill>
                  <a:srgbClr val="000000"/>
                </a:solidFill>
                <a:effectLst/>
                <a:latin typeface="Arial" panose="020B0604020202020204" pitchFamily="34" charset="0"/>
              </a:rPr>
              <a:t>2 символа с наименьшей частотой. В нашем случае это D (5) и какой либо символ из F или A (10), можно взять любой.</a:t>
            </a:r>
            <a:endParaRPr lang="ru-RU" b="0" dirty="0">
              <a:effectLst/>
            </a:endParaRPr>
          </a:p>
          <a:p>
            <a:pPr rtl="0">
              <a:spcBef>
                <a:spcPts val="0"/>
              </a:spcBef>
              <a:spcAft>
                <a:spcPts val="0"/>
              </a:spcAft>
            </a:pPr>
            <a:r>
              <a:rPr lang="ru-RU" sz="1800" b="0" i="0" u="none" strike="noStrike" dirty="0">
                <a:solidFill>
                  <a:srgbClr val="000000"/>
                </a:solidFill>
                <a:effectLst/>
                <a:latin typeface="Arial" panose="020B0604020202020204" pitchFamily="34" charset="0"/>
              </a:rPr>
              <a:t>Сформируем из "узлов" D и A новый "узел", частота вхождения для которого будет равна сумме частот D и A :</a:t>
            </a:r>
            <a:endParaRPr lang="ru-RU" b="0" dirty="0">
              <a:effectLst/>
            </a:endParaRPr>
          </a:p>
        </p:txBody>
      </p:sp>
      <p:graphicFrame>
        <p:nvGraphicFramePr>
          <p:cNvPr id="12" name="Таблица 4">
            <a:extLst>
              <a:ext uri="{FF2B5EF4-FFF2-40B4-BE49-F238E27FC236}">
                <a16:creationId xmlns:a16="http://schemas.microsoft.com/office/drawing/2014/main" id="{A17DBFD7-5B1B-48A9-A999-0C476DFA1E15}"/>
              </a:ext>
            </a:extLst>
          </p:cNvPr>
          <p:cNvGraphicFramePr>
            <a:graphicFrameLocks noGrp="1"/>
          </p:cNvGraphicFramePr>
          <p:nvPr>
            <p:extLst>
              <p:ext uri="{D42A27DB-BD31-4B8C-83A1-F6EECF244321}">
                <p14:modId xmlns:p14="http://schemas.microsoft.com/office/powerpoint/2010/main" val="3752276801"/>
              </p:ext>
            </p:extLst>
          </p:nvPr>
        </p:nvGraphicFramePr>
        <p:xfrm>
          <a:off x="2656563" y="5437206"/>
          <a:ext cx="6487458" cy="741680"/>
        </p:xfrm>
        <a:graphic>
          <a:graphicData uri="http://schemas.openxmlformats.org/drawingml/2006/table">
            <a:tbl>
              <a:tblPr firstRow="1" bandRow="1">
                <a:tableStyleId>{5C22544A-7EE6-4342-B048-85BDC9FD1C3A}</a:tableStyleId>
              </a:tblPr>
              <a:tblGrid>
                <a:gridCol w="1942352">
                  <a:extLst>
                    <a:ext uri="{9D8B030D-6E8A-4147-A177-3AD203B41FA5}">
                      <a16:colId xmlns:a16="http://schemas.microsoft.com/office/drawing/2014/main" val="3810560271"/>
                    </a:ext>
                  </a:extLst>
                </a:gridCol>
                <a:gridCol w="923365">
                  <a:extLst>
                    <a:ext uri="{9D8B030D-6E8A-4147-A177-3AD203B41FA5}">
                      <a16:colId xmlns:a16="http://schemas.microsoft.com/office/drawing/2014/main" val="4281652835"/>
                    </a:ext>
                  </a:extLst>
                </a:gridCol>
                <a:gridCol w="914400">
                  <a:extLst>
                    <a:ext uri="{9D8B030D-6E8A-4147-A177-3AD203B41FA5}">
                      <a16:colId xmlns:a16="http://schemas.microsoft.com/office/drawing/2014/main" val="1351460570"/>
                    </a:ext>
                  </a:extLst>
                </a:gridCol>
                <a:gridCol w="941294">
                  <a:extLst>
                    <a:ext uri="{9D8B030D-6E8A-4147-A177-3AD203B41FA5}">
                      <a16:colId xmlns:a16="http://schemas.microsoft.com/office/drawing/2014/main" val="2766137029"/>
                    </a:ext>
                  </a:extLst>
                </a:gridCol>
                <a:gridCol w="869577">
                  <a:extLst>
                    <a:ext uri="{9D8B030D-6E8A-4147-A177-3AD203B41FA5}">
                      <a16:colId xmlns:a16="http://schemas.microsoft.com/office/drawing/2014/main" val="2540837967"/>
                    </a:ext>
                  </a:extLst>
                </a:gridCol>
                <a:gridCol w="896470">
                  <a:extLst>
                    <a:ext uri="{9D8B030D-6E8A-4147-A177-3AD203B41FA5}">
                      <a16:colId xmlns:a16="http://schemas.microsoft.com/office/drawing/2014/main" val="1168184135"/>
                    </a:ext>
                  </a:extLst>
                </a:gridCol>
              </a:tblGrid>
              <a:tr h="370840">
                <a:tc>
                  <a:txBody>
                    <a:bodyPr/>
                    <a:lstStyle/>
                    <a:p>
                      <a:pPr algn="ctr"/>
                      <a:r>
                        <a:rPr lang="ru-RU" b="0" dirty="0">
                          <a:solidFill>
                            <a:schemeClr val="tx1"/>
                          </a:solidFill>
                        </a:rPr>
                        <a:t>Символ</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C</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E</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B</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A+D</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F</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352508"/>
                  </a:ext>
                </a:extLst>
              </a:tr>
              <a:tr h="370840">
                <a:tc>
                  <a:txBody>
                    <a:bodyPr/>
                    <a:lstStyle/>
                    <a:p>
                      <a:pPr algn="ctr"/>
                      <a:r>
                        <a:rPr lang="ru-RU" b="0" dirty="0">
                          <a:solidFill>
                            <a:schemeClr val="tx1"/>
                          </a:solidFill>
                        </a:rPr>
                        <a:t>Число вхождений</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30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25</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20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15</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b="0" dirty="0">
                          <a:solidFill>
                            <a:schemeClr val="tx1"/>
                          </a:solidFill>
                        </a:rPr>
                        <a:t>10</a:t>
                      </a:r>
                      <a:endParaRPr lang="ru-RU" b="0"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961137"/>
                  </a:ext>
                </a:extLst>
              </a:tr>
            </a:tbl>
          </a:graphicData>
        </a:graphic>
      </p:graphicFrame>
    </p:spTree>
    <p:extLst>
      <p:ext uri="{BB962C8B-B14F-4D97-AF65-F5344CB8AC3E}">
        <p14:creationId xmlns:p14="http://schemas.microsoft.com/office/powerpoint/2010/main" val="3101120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6403"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101875"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9261434" cy="1477328"/>
          </a:xfrm>
          <a:prstGeom prst="rect">
            <a:avLst/>
          </a:prstGeom>
          <a:noFill/>
        </p:spPr>
        <p:txBody>
          <a:bodyPr wrap="square" rtlCol="0">
            <a:spAutoFit/>
          </a:bodyPr>
          <a:lstStyle/>
          <a:p>
            <a:pPr rtl="0">
              <a:spcBef>
                <a:spcPts val="0"/>
              </a:spcBef>
              <a:spcAft>
                <a:spcPts val="0"/>
              </a:spcAft>
            </a:pPr>
            <a:r>
              <a:rPr lang="ru-RU" sz="1800" b="1" i="0" u="none" strike="noStrike" dirty="0">
                <a:solidFill>
                  <a:srgbClr val="E90479"/>
                </a:solidFill>
                <a:effectLst/>
                <a:latin typeface="Arial" panose="020B0604020202020204" pitchFamily="34" charset="0"/>
              </a:rPr>
              <a:t>Пример алгоритма Хаффмана</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spcBef>
                <a:spcPts val="0"/>
              </a:spcBef>
              <a:spcAft>
                <a:spcPts val="0"/>
              </a:spcAft>
            </a:pPr>
            <a:r>
              <a:rPr lang="ru-RU" dirty="0">
                <a:solidFill>
                  <a:srgbClr val="000000"/>
                </a:solidFill>
                <a:latin typeface="Arial" panose="020B0604020202020204" pitchFamily="34" charset="0"/>
              </a:rPr>
              <a:t>Продолжаем повторять процесс, пока таблица не сведется к одному узлу.</a:t>
            </a:r>
          </a:p>
          <a:p>
            <a:pPr rtl="0">
              <a:spcBef>
                <a:spcPts val="0"/>
              </a:spcBef>
              <a:spcAft>
                <a:spcPts val="0"/>
              </a:spcAft>
            </a:pPr>
            <a:r>
              <a:rPr lang="ru-RU" b="0" dirty="0">
                <a:solidFill>
                  <a:srgbClr val="000000"/>
                </a:solidFill>
                <a:effectLst/>
                <a:latin typeface="Arial" panose="020B0604020202020204" pitchFamily="34" charset="0"/>
              </a:rPr>
              <a:t>В итоге </a:t>
            </a:r>
            <a:r>
              <a:rPr lang="ru-RU" dirty="0">
                <a:solidFill>
                  <a:srgbClr val="000000"/>
                </a:solidFill>
                <a:latin typeface="Arial" panose="020B0604020202020204" pitchFamily="34" charset="0"/>
              </a:rPr>
              <a:t>формируется дерево:</a:t>
            </a:r>
            <a:r>
              <a:rPr lang="ru-RU" dirty="0"/>
              <a:t/>
            </a:r>
            <a:br>
              <a:rPr lang="ru-RU" dirty="0"/>
            </a:br>
            <a:endParaRPr lang="ru-RU" dirty="0"/>
          </a:p>
        </p:txBody>
      </p:sp>
      <p:graphicFrame>
        <p:nvGraphicFramePr>
          <p:cNvPr id="5" name="Таблица 6">
            <a:extLst>
              <a:ext uri="{FF2B5EF4-FFF2-40B4-BE49-F238E27FC236}">
                <a16:creationId xmlns:a16="http://schemas.microsoft.com/office/drawing/2014/main" id="{C79F7BA6-092E-4679-888A-FE22D2924938}"/>
              </a:ext>
            </a:extLst>
          </p:cNvPr>
          <p:cNvGraphicFramePr>
            <a:graphicFrameLocks noGrp="1"/>
          </p:cNvGraphicFramePr>
          <p:nvPr>
            <p:extLst>
              <p:ext uri="{D42A27DB-BD31-4B8C-83A1-F6EECF244321}">
                <p14:modId xmlns:p14="http://schemas.microsoft.com/office/powerpoint/2010/main" val="3122408680"/>
              </p:ext>
            </p:extLst>
          </p:nvPr>
        </p:nvGraphicFramePr>
        <p:xfrm>
          <a:off x="1655482" y="2207598"/>
          <a:ext cx="8128002"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7424276"/>
                    </a:ext>
                  </a:extLst>
                </a:gridCol>
                <a:gridCol w="1354667">
                  <a:extLst>
                    <a:ext uri="{9D8B030D-6E8A-4147-A177-3AD203B41FA5}">
                      <a16:colId xmlns:a16="http://schemas.microsoft.com/office/drawing/2014/main" val="1328127388"/>
                    </a:ext>
                  </a:extLst>
                </a:gridCol>
                <a:gridCol w="1354667">
                  <a:extLst>
                    <a:ext uri="{9D8B030D-6E8A-4147-A177-3AD203B41FA5}">
                      <a16:colId xmlns:a16="http://schemas.microsoft.com/office/drawing/2014/main" val="3426723907"/>
                    </a:ext>
                  </a:extLst>
                </a:gridCol>
                <a:gridCol w="1354667">
                  <a:extLst>
                    <a:ext uri="{9D8B030D-6E8A-4147-A177-3AD203B41FA5}">
                      <a16:colId xmlns:a16="http://schemas.microsoft.com/office/drawing/2014/main" val="3516049873"/>
                    </a:ext>
                  </a:extLst>
                </a:gridCol>
                <a:gridCol w="1354667">
                  <a:extLst>
                    <a:ext uri="{9D8B030D-6E8A-4147-A177-3AD203B41FA5}">
                      <a16:colId xmlns:a16="http://schemas.microsoft.com/office/drawing/2014/main" val="2292883648"/>
                    </a:ext>
                  </a:extLst>
                </a:gridCol>
                <a:gridCol w="1354667">
                  <a:extLst>
                    <a:ext uri="{9D8B030D-6E8A-4147-A177-3AD203B41FA5}">
                      <a16:colId xmlns:a16="http://schemas.microsoft.com/office/drawing/2014/main" val="1789190806"/>
                    </a:ext>
                  </a:extLst>
                </a:gridCol>
              </a:tblGrid>
              <a:tr h="370840">
                <a:tc>
                  <a:txBody>
                    <a:bodyPr/>
                    <a:lstStyle/>
                    <a:p>
                      <a:pPr algn="ctr"/>
                      <a:r>
                        <a:rPr lang="ru-RU" b="0" dirty="0">
                          <a:solidFill>
                            <a:schemeClr val="tx1"/>
                          </a:solidFill>
                        </a:rPr>
                        <a:t>С 30</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ru-RU" b="0" dirty="0">
                          <a:solidFill>
                            <a:schemeClr val="tx1"/>
                          </a:solidFill>
                        </a:rPr>
                        <a:t>А 10</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ru-RU" b="0" dirty="0">
                          <a:solidFill>
                            <a:schemeClr val="tx1"/>
                          </a:solidFill>
                        </a:rPr>
                        <a:t>В 5</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F</a:t>
                      </a:r>
                      <a:r>
                        <a:rPr lang="ru-RU" b="0" dirty="0">
                          <a:solidFill>
                            <a:schemeClr val="tx1"/>
                          </a:solidFill>
                        </a:rPr>
                        <a:t> 10</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B</a:t>
                      </a:r>
                      <a:r>
                        <a:rPr lang="ru-RU" b="0" dirty="0">
                          <a:solidFill>
                            <a:schemeClr val="tx1"/>
                          </a:solidFill>
                        </a:rPr>
                        <a:t> 20</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E</a:t>
                      </a:r>
                      <a:r>
                        <a:rPr lang="ru-RU" b="0" dirty="0">
                          <a:solidFill>
                            <a:schemeClr val="tx1"/>
                          </a:solidFill>
                        </a:rPr>
                        <a:t> 25</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782683"/>
                  </a:ext>
                </a:extLst>
              </a:tr>
            </a:tbl>
          </a:graphicData>
        </a:graphic>
      </p:graphicFrame>
      <p:cxnSp>
        <p:nvCxnSpPr>
          <p:cNvPr id="11" name="Соединитель: уступ 10">
            <a:extLst>
              <a:ext uri="{FF2B5EF4-FFF2-40B4-BE49-F238E27FC236}">
                <a16:creationId xmlns:a16="http://schemas.microsoft.com/office/drawing/2014/main" id="{8FC16F1D-3AC3-4D98-A995-6477D83BA2DF}"/>
              </a:ext>
            </a:extLst>
          </p:cNvPr>
          <p:cNvCxnSpPr>
            <a:cxnSpLocks/>
          </p:cNvCxnSpPr>
          <p:nvPr/>
        </p:nvCxnSpPr>
        <p:spPr>
          <a:xfrm rot="16200000" flipH="1">
            <a:off x="3664865" y="2624960"/>
            <a:ext cx="765400" cy="67235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3" name="Соединитель: уступ 12">
            <a:extLst>
              <a:ext uri="{FF2B5EF4-FFF2-40B4-BE49-F238E27FC236}">
                <a16:creationId xmlns:a16="http://schemas.microsoft.com/office/drawing/2014/main" id="{35753D82-E3C5-4FB6-98F3-B3430B3F9FA6}"/>
              </a:ext>
            </a:extLst>
          </p:cNvPr>
          <p:cNvCxnSpPr>
            <a:cxnSpLocks/>
          </p:cNvCxnSpPr>
          <p:nvPr/>
        </p:nvCxnSpPr>
        <p:spPr>
          <a:xfrm rot="5400000">
            <a:off x="4323774" y="2638406"/>
            <a:ext cx="765397" cy="64546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8" name="Таблица 18">
            <a:extLst>
              <a:ext uri="{FF2B5EF4-FFF2-40B4-BE49-F238E27FC236}">
                <a16:creationId xmlns:a16="http://schemas.microsoft.com/office/drawing/2014/main" id="{2148D003-F3EF-4409-A1C7-B7722EB87A0E}"/>
              </a:ext>
            </a:extLst>
          </p:cNvPr>
          <p:cNvGraphicFramePr>
            <a:graphicFrameLocks noGrp="1"/>
          </p:cNvGraphicFramePr>
          <p:nvPr>
            <p:extLst>
              <p:ext uri="{D42A27DB-BD31-4B8C-83A1-F6EECF244321}">
                <p14:modId xmlns:p14="http://schemas.microsoft.com/office/powerpoint/2010/main" val="1065714187"/>
              </p:ext>
            </p:extLst>
          </p:nvPr>
        </p:nvGraphicFramePr>
        <p:xfrm>
          <a:off x="3724834" y="3361764"/>
          <a:ext cx="1317815" cy="370840"/>
        </p:xfrm>
        <a:graphic>
          <a:graphicData uri="http://schemas.openxmlformats.org/drawingml/2006/table">
            <a:tbl>
              <a:tblPr firstRow="1" bandRow="1">
                <a:tableStyleId>{5C22544A-7EE6-4342-B048-85BDC9FD1C3A}</a:tableStyleId>
              </a:tblPr>
              <a:tblGrid>
                <a:gridCol w="1317815">
                  <a:extLst>
                    <a:ext uri="{9D8B030D-6E8A-4147-A177-3AD203B41FA5}">
                      <a16:colId xmlns:a16="http://schemas.microsoft.com/office/drawing/2014/main" val="258806820"/>
                    </a:ext>
                  </a:extLst>
                </a:gridCol>
              </a:tblGrid>
              <a:tr h="370840">
                <a:tc>
                  <a:txBody>
                    <a:bodyPr/>
                    <a:lstStyle/>
                    <a:p>
                      <a:pPr algn="ctr"/>
                      <a:r>
                        <a:rPr lang="en-AU" b="0" dirty="0">
                          <a:solidFill>
                            <a:schemeClr val="tx1"/>
                          </a:solidFill>
                        </a:rPr>
                        <a:t>15</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973499"/>
                  </a:ext>
                </a:extLst>
              </a:tr>
            </a:tbl>
          </a:graphicData>
        </a:graphic>
      </p:graphicFrame>
      <p:cxnSp>
        <p:nvCxnSpPr>
          <p:cNvPr id="20" name="Соединитель: уступ 19">
            <a:extLst>
              <a:ext uri="{FF2B5EF4-FFF2-40B4-BE49-F238E27FC236}">
                <a16:creationId xmlns:a16="http://schemas.microsoft.com/office/drawing/2014/main" id="{668EA64E-E867-441D-B30F-E7FB580A8CD4}"/>
              </a:ext>
            </a:extLst>
          </p:cNvPr>
          <p:cNvCxnSpPr>
            <a:cxnSpLocks/>
          </p:cNvCxnSpPr>
          <p:nvPr/>
        </p:nvCxnSpPr>
        <p:spPr>
          <a:xfrm rot="5400000">
            <a:off x="5112668" y="2862523"/>
            <a:ext cx="1590150" cy="1021980"/>
          </a:xfrm>
          <a:prstGeom prst="bentConnector3">
            <a:avLst>
              <a:gd name="adj1" fmla="val 83262"/>
            </a:avLst>
          </a:prstGeom>
          <a:ln>
            <a:tailEnd type="triangle"/>
          </a:ln>
        </p:spPr>
        <p:style>
          <a:lnRef idx="1">
            <a:schemeClr val="dk1"/>
          </a:lnRef>
          <a:fillRef idx="0">
            <a:schemeClr val="dk1"/>
          </a:fillRef>
          <a:effectRef idx="0">
            <a:schemeClr val="dk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89CC92CD-D27C-4B73-B7F1-D812DC7555E7}"/>
              </a:ext>
            </a:extLst>
          </p:cNvPr>
          <p:cNvCxnSpPr>
            <a:cxnSpLocks/>
          </p:cNvCxnSpPr>
          <p:nvPr/>
        </p:nvCxnSpPr>
        <p:spPr>
          <a:xfrm>
            <a:off x="4383741" y="3732604"/>
            <a:ext cx="0" cy="169979"/>
          </a:xfrm>
          <a:prstGeom prst="line">
            <a:avLst/>
          </a:prstGeom>
        </p:spPr>
        <p:style>
          <a:lnRef idx="1">
            <a:schemeClr val="dk1"/>
          </a:lnRef>
          <a:fillRef idx="0">
            <a:schemeClr val="dk1"/>
          </a:fillRef>
          <a:effectRef idx="0">
            <a:schemeClr val="dk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4FEE015B-035A-4341-8FEF-74E8E243FC7F}"/>
              </a:ext>
            </a:extLst>
          </p:cNvPr>
          <p:cNvCxnSpPr>
            <a:cxnSpLocks/>
          </p:cNvCxnSpPr>
          <p:nvPr/>
        </p:nvCxnSpPr>
        <p:spPr>
          <a:xfrm>
            <a:off x="4383741" y="3902583"/>
            <a:ext cx="1013012"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37" name="Таблица 18">
            <a:extLst>
              <a:ext uri="{FF2B5EF4-FFF2-40B4-BE49-F238E27FC236}">
                <a16:creationId xmlns:a16="http://schemas.microsoft.com/office/drawing/2014/main" id="{F43890EB-54BF-4A4B-A68C-7CF0A8C3BA89}"/>
              </a:ext>
            </a:extLst>
          </p:cNvPr>
          <p:cNvGraphicFramePr>
            <a:graphicFrameLocks noGrp="1"/>
          </p:cNvGraphicFramePr>
          <p:nvPr>
            <p:extLst>
              <p:ext uri="{D42A27DB-BD31-4B8C-83A1-F6EECF244321}">
                <p14:modId xmlns:p14="http://schemas.microsoft.com/office/powerpoint/2010/main" val="1568461651"/>
              </p:ext>
            </p:extLst>
          </p:nvPr>
        </p:nvGraphicFramePr>
        <p:xfrm>
          <a:off x="4737845" y="4186515"/>
          <a:ext cx="1317815" cy="370840"/>
        </p:xfrm>
        <a:graphic>
          <a:graphicData uri="http://schemas.openxmlformats.org/drawingml/2006/table">
            <a:tbl>
              <a:tblPr firstRow="1" bandRow="1">
                <a:tableStyleId>{5C22544A-7EE6-4342-B048-85BDC9FD1C3A}</a:tableStyleId>
              </a:tblPr>
              <a:tblGrid>
                <a:gridCol w="1317815">
                  <a:extLst>
                    <a:ext uri="{9D8B030D-6E8A-4147-A177-3AD203B41FA5}">
                      <a16:colId xmlns:a16="http://schemas.microsoft.com/office/drawing/2014/main" val="258806820"/>
                    </a:ext>
                  </a:extLst>
                </a:gridCol>
              </a:tblGrid>
              <a:tr h="370840">
                <a:tc>
                  <a:txBody>
                    <a:bodyPr/>
                    <a:lstStyle/>
                    <a:p>
                      <a:pPr algn="ctr"/>
                      <a:r>
                        <a:rPr lang="en-AU" b="0" dirty="0">
                          <a:solidFill>
                            <a:schemeClr val="tx1"/>
                          </a:solidFill>
                        </a:rPr>
                        <a:t>25</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973499"/>
                  </a:ext>
                </a:extLst>
              </a:tr>
            </a:tbl>
          </a:graphicData>
        </a:graphic>
      </p:graphicFrame>
      <p:cxnSp>
        <p:nvCxnSpPr>
          <p:cNvPr id="38" name="Прямая соединительная линия 37">
            <a:extLst>
              <a:ext uri="{FF2B5EF4-FFF2-40B4-BE49-F238E27FC236}">
                <a16:creationId xmlns:a16="http://schemas.microsoft.com/office/drawing/2014/main" id="{ED7E263E-4B17-481F-834E-02639894D77F}"/>
              </a:ext>
            </a:extLst>
          </p:cNvPr>
          <p:cNvCxnSpPr>
            <a:cxnSpLocks/>
          </p:cNvCxnSpPr>
          <p:nvPr/>
        </p:nvCxnSpPr>
        <p:spPr>
          <a:xfrm>
            <a:off x="2333961" y="2575230"/>
            <a:ext cx="0" cy="2314747"/>
          </a:xfrm>
          <a:prstGeom prst="line">
            <a:avLst/>
          </a:prstGeom>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a:extLst>
              <a:ext uri="{FF2B5EF4-FFF2-40B4-BE49-F238E27FC236}">
                <a16:creationId xmlns:a16="http://schemas.microsoft.com/office/drawing/2014/main" id="{A37D8DAB-CCEC-4CD7-B53C-27BEB0578720}"/>
              </a:ext>
            </a:extLst>
          </p:cNvPr>
          <p:cNvCxnSpPr>
            <a:cxnSpLocks/>
          </p:cNvCxnSpPr>
          <p:nvPr/>
        </p:nvCxnSpPr>
        <p:spPr>
          <a:xfrm>
            <a:off x="2333961" y="4889977"/>
            <a:ext cx="1575099" cy="0"/>
          </a:xfrm>
          <a:prstGeom prst="line">
            <a:avLst/>
          </a:prstGeom>
        </p:spPr>
        <p:style>
          <a:lnRef idx="1">
            <a:schemeClr val="dk1"/>
          </a:lnRef>
          <a:fillRef idx="0">
            <a:schemeClr val="dk1"/>
          </a:fillRef>
          <a:effectRef idx="0">
            <a:schemeClr val="dk1"/>
          </a:effectRef>
          <a:fontRef idx="minor">
            <a:schemeClr val="tx1"/>
          </a:fontRef>
        </p:style>
      </p:cxnSp>
      <p:cxnSp>
        <p:nvCxnSpPr>
          <p:cNvPr id="51" name="Прямая соединительная линия 50">
            <a:extLst>
              <a:ext uri="{FF2B5EF4-FFF2-40B4-BE49-F238E27FC236}">
                <a16:creationId xmlns:a16="http://schemas.microsoft.com/office/drawing/2014/main" id="{2B554614-554F-4FB0-A158-6A4B99F9A453}"/>
              </a:ext>
            </a:extLst>
          </p:cNvPr>
          <p:cNvCxnSpPr>
            <a:cxnSpLocks/>
            <a:stCxn id="37" idx="2"/>
          </p:cNvCxnSpPr>
          <p:nvPr/>
        </p:nvCxnSpPr>
        <p:spPr>
          <a:xfrm>
            <a:off x="5396752" y="4557355"/>
            <a:ext cx="0" cy="332622"/>
          </a:xfrm>
          <a:prstGeom prst="line">
            <a:avLst/>
          </a:prstGeom>
        </p:spPr>
        <p:style>
          <a:lnRef idx="1">
            <a:schemeClr val="dk1"/>
          </a:lnRef>
          <a:fillRef idx="0">
            <a:schemeClr val="dk1"/>
          </a:fillRef>
          <a:effectRef idx="0">
            <a:schemeClr val="dk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9C37297C-EAE5-4620-82FB-BA9666E043B1}"/>
              </a:ext>
            </a:extLst>
          </p:cNvPr>
          <p:cNvCxnSpPr>
            <a:cxnSpLocks/>
          </p:cNvCxnSpPr>
          <p:nvPr/>
        </p:nvCxnSpPr>
        <p:spPr>
          <a:xfrm>
            <a:off x="3909060" y="4889977"/>
            <a:ext cx="1487692" cy="0"/>
          </a:xfrm>
          <a:prstGeom prst="line">
            <a:avLst/>
          </a:prstGeom>
        </p:spPr>
        <p:style>
          <a:lnRef idx="1">
            <a:schemeClr val="dk1"/>
          </a:lnRef>
          <a:fillRef idx="0">
            <a:schemeClr val="dk1"/>
          </a:fillRef>
          <a:effectRef idx="0">
            <a:schemeClr val="dk1"/>
          </a:effectRef>
          <a:fontRef idx="minor">
            <a:schemeClr val="tx1"/>
          </a:fontRef>
        </p:style>
      </p:cxnSp>
      <p:cxnSp>
        <p:nvCxnSpPr>
          <p:cNvPr id="56" name="Прямая со стрелкой 55">
            <a:extLst>
              <a:ext uri="{FF2B5EF4-FFF2-40B4-BE49-F238E27FC236}">
                <a16:creationId xmlns:a16="http://schemas.microsoft.com/office/drawing/2014/main" id="{22C1BDB6-499B-4C9F-866B-5ACAB922DC44}"/>
              </a:ext>
            </a:extLst>
          </p:cNvPr>
          <p:cNvCxnSpPr/>
          <p:nvPr/>
        </p:nvCxnSpPr>
        <p:spPr>
          <a:xfrm>
            <a:off x="3909060" y="4889977"/>
            <a:ext cx="0" cy="1879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57" name="Таблица 18">
            <a:extLst>
              <a:ext uri="{FF2B5EF4-FFF2-40B4-BE49-F238E27FC236}">
                <a16:creationId xmlns:a16="http://schemas.microsoft.com/office/drawing/2014/main" id="{DACAAF5E-14D5-4B78-868D-DA0291E89F14}"/>
              </a:ext>
            </a:extLst>
          </p:cNvPr>
          <p:cNvGraphicFramePr>
            <a:graphicFrameLocks noGrp="1"/>
          </p:cNvGraphicFramePr>
          <p:nvPr>
            <p:extLst>
              <p:ext uri="{D42A27DB-BD31-4B8C-83A1-F6EECF244321}">
                <p14:modId xmlns:p14="http://schemas.microsoft.com/office/powerpoint/2010/main" val="2366370741"/>
              </p:ext>
            </p:extLst>
          </p:nvPr>
        </p:nvGraphicFramePr>
        <p:xfrm>
          <a:off x="3250152" y="5093324"/>
          <a:ext cx="1317815" cy="370840"/>
        </p:xfrm>
        <a:graphic>
          <a:graphicData uri="http://schemas.openxmlformats.org/drawingml/2006/table">
            <a:tbl>
              <a:tblPr firstRow="1" bandRow="1">
                <a:tableStyleId>{5C22544A-7EE6-4342-B048-85BDC9FD1C3A}</a:tableStyleId>
              </a:tblPr>
              <a:tblGrid>
                <a:gridCol w="1317815">
                  <a:extLst>
                    <a:ext uri="{9D8B030D-6E8A-4147-A177-3AD203B41FA5}">
                      <a16:colId xmlns:a16="http://schemas.microsoft.com/office/drawing/2014/main" val="258806820"/>
                    </a:ext>
                  </a:extLst>
                </a:gridCol>
              </a:tblGrid>
              <a:tr h="370840">
                <a:tc>
                  <a:txBody>
                    <a:bodyPr/>
                    <a:lstStyle/>
                    <a:p>
                      <a:pPr algn="ctr"/>
                      <a:r>
                        <a:rPr lang="en-AU" b="0" dirty="0">
                          <a:solidFill>
                            <a:schemeClr val="tx1"/>
                          </a:solidFill>
                        </a:rPr>
                        <a:t>55</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973499"/>
                  </a:ext>
                </a:extLst>
              </a:tr>
            </a:tbl>
          </a:graphicData>
        </a:graphic>
      </p:graphicFrame>
      <p:cxnSp>
        <p:nvCxnSpPr>
          <p:cNvPr id="58" name="Прямая соединительная линия 57">
            <a:extLst>
              <a:ext uri="{FF2B5EF4-FFF2-40B4-BE49-F238E27FC236}">
                <a16:creationId xmlns:a16="http://schemas.microsoft.com/office/drawing/2014/main" id="{C71885DC-3FED-4177-9437-0BB0EA6B1CFF}"/>
              </a:ext>
            </a:extLst>
          </p:cNvPr>
          <p:cNvCxnSpPr>
            <a:cxnSpLocks/>
          </p:cNvCxnSpPr>
          <p:nvPr/>
        </p:nvCxnSpPr>
        <p:spPr>
          <a:xfrm>
            <a:off x="7787566" y="2575230"/>
            <a:ext cx="0" cy="2314747"/>
          </a:xfrm>
          <a:prstGeom prst="line">
            <a:avLst/>
          </a:prstGeom>
        </p:spPr>
        <p:style>
          <a:lnRef idx="1">
            <a:schemeClr val="dk1"/>
          </a:lnRef>
          <a:fillRef idx="0">
            <a:schemeClr val="dk1"/>
          </a:fillRef>
          <a:effectRef idx="0">
            <a:schemeClr val="dk1"/>
          </a:effectRef>
          <a:fontRef idx="minor">
            <a:schemeClr val="tx1"/>
          </a:fontRef>
        </p:style>
      </p:cxnSp>
      <p:cxnSp>
        <p:nvCxnSpPr>
          <p:cNvPr id="59" name="Прямая соединительная линия 58">
            <a:extLst>
              <a:ext uri="{FF2B5EF4-FFF2-40B4-BE49-F238E27FC236}">
                <a16:creationId xmlns:a16="http://schemas.microsoft.com/office/drawing/2014/main" id="{F95A75A7-9D0C-4A92-90F5-2ADDF83B9F7E}"/>
              </a:ext>
            </a:extLst>
          </p:cNvPr>
          <p:cNvCxnSpPr>
            <a:cxnSpLocks/>
          </p:cNvCxnSpPr>
          <p:nvPr/>
        </p:nvCxnSpPr>
        <p:spPr>
          <a:xfrm>
            <a:off x="7787566" y="4889977"/>
            <a:ext cx="719826" cy="0"/>
          </a:xfrm>
          <a:prstGeom prst="line">
            <a:avLst/>
          </a:prstGeom>
        </p:spPr>
        <p:style>
          <a:lnRef idx="1">
            <a:schemeClr val="dk1"/>
          </a:lnRef>
          <a:fillRef idx="0">
            <a:schemeClr val="dk1"/>
          </a:fillRef>
          <a:effectRef idx="0">
            <a:schemeClr val="dk1"/>
          </a:effectRef>
          <a:fontRef idx="minor">
            <a:schemeClr val="tx1"/>
          </a:fontRef>
        </p:style>
      </p:cxnSp>
      <p:cxnSp>
        <p:nvCxnSpPr>
          <p:cNvPr id="60" name="Прямая соединительная линия 59">
            <a:extLst>
              <a:ext uri="{FF2B5EF4-FFF2-40B4-BE49-F238E27FC236}">
                <a16:creationId xmlns:a16="http://schemas.microsoft.com/office/drawing/2014/main" id="{BC6F577C-9330-4ED0-8303-CDD158C44391}"/>
              </a:ext>
            </a:extLst>
          </p:cNvPr>
          <p:cNvCxnSpPr>
            <a:cxnSpLocks/>
          </p:cNvCxnSpPr>
          <p:nvPr/>
        </p:nvCxnSpPr>
        <p:spPr>
          <a:xfrm>
            <a:off x="9120851" y="2575230"/>
            <a:ext cx="0" cy="2314747"/>
          </a:xfrm>
          <a:prstGeom prst="line">
            <a:avLst/>
          </a:prstGeom>
        </p:spPr>
        <p:style>
          <a:lnRef idx="1">
            <a:schemeClr val="dk1"/>
          </a:lnRef>
          <a:fillRef idx="0">
            <a:schemeClr val="dk1"/>
          </a:fillRef>
          <a:effectRef idx="0">
            <a:schemeClr val="dk1"/>
          </a:effectRef>
          <a:fontRef idx="minor">
            <a:schemeClr val="tx1"/>
          </a:fontRef>
        </p:style>
      </p:cxnSp>
      <p:cxnSp>
        <p:nvCxnSpPr>
          <p:cNvPr id="61" name="Прямая соединительная линия 60">
            <a:extLst>
              <a:ext uri="{FF2B5EF4-FFF2-40B4-BE49-F238E27FC236}">
                <a16:creationId xmlns:a16="http://schemas.microsoft.com/office/drawing/2014/main" id="{2561A5C7-FF40-42EE-89C0-918F00E5592A}"/>
              </a:ext>
            </a:extLst>
          </p:cNvPr>
          <p:cNvCxnSpPr>
            <a:cxnSpLocks/>
          </p:cNvCxnSpPr>
          <p:nvPr/>
        </p:nvCxnSpPr>
        <p:spPr>
          <a:xfrm>
            <a:off x="8507392" y="4889977"/>
            <a:ext cx="611058" cy="0"/>
          </a:xfrm>
          <a:prstGeom prst="line">
            <a:avLst/>
          </a:prstGeom>
        </p:spPr>
        <p:style>
          <a:lnRef idx="1">
            <a:schemeClr val="dk1"/>
          </a:lnRef>
          <a:fillRef idx="0">
            <a:schemeClr val="dk1"/>
          </a:fillRef>
          <a:effectRef idx="0">
            <a:schemeClr val="dk1"/>
          </a:effectRef>
          <a:fontRef idx="minor">
            <a:schemeClr val="tx1"/>
          </a:fontRef>
        </p:style>
      </p:cxnSp>
      <p:cxnSp>
        <p:nvCxnSpPr>
          <p:cNvPr id="62" name="Прямая со стрелкой 61">
            <a:extLst>
              <a:ext uri="{FF2B5EF4-FFF2-40B4-BE49-F238E27FC236}">
                <a16:creationId xmlns:a16="http://schemas.microsoft.com/office/drawing/2014/main" id="{ABD124E5-355C-46DA-AC4F-126FD604A780}"/>
              </a:ext>
            </a:extLst>
          </p:cNvPr>
          <p:cNvCxnSpPr>
            <a:cxnSpLocks/>
          </p:cNvCxnSpPr>
          <p:nvPr/>
        </p:nvCxnSpPr>
        <p:spPr>
          <a:xfrm>
            <a:off x="8468360" y="4889977"/>
            <a:ext cx="0" cy="2033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02" name="Таблица 18">
            <a:extLst>
              <a:ext uri="{FF2B5EF4-FFF2-40B4-BE49-F238E27FC236}">
                <a16:creationId xmlns:a16="http://schemas.microsoft.com/office/drawing/2014/main" id="{6EC8F097-E8AB-40E8-9F6D-F855AD6D2320}"/>
              </a:ext>
            </a:extLst>
          </p:cNvPr>
          <p:cNvGraphicFramePr>
            <a:graphicFrameLocks noGrp="1"/>
          </p:cNvGraphicFramePr>
          <p:nvPr>
            <p:extLst>
              <p:ext uri="{D42A27DB-BD31-4B8C-83A1-F6EECF244321}">
                <p14:modId xmlns:p14="http://schemas.microsoft.com/office/powerpoint/2010/main" val="3250521633"/>
              </p:ext>
            </p:extLst>
          </p:nvPr>
        </p:nvGraphicFramePr>
        <p:xfrm>
          <a:off x="7809452" y="5093324"/>
          <a:ext cx="1317815" cy="370840"/>
        </p:xfrm>
        <a:graphic>
          <a:graphicData uri="http://schemas.openxmlformats.org/drawingml/2006/table">
            <a:tbl>
              <a:tblPr firstRow="1" bandRow="1">
                <a:tableStyleId>{5C22544A-7EE6-4342-B048-85BDC9FD1C3A}</a:tableStyleId>
              </a:tblPr>
              <a:tblGrid>
                <a:gridCol w="1317815">
                  <a:extLst>
                    <a:ext uri="{9D8B030D-6E8A-4147-A177-3AD203B41FA5}">
                      <a16:colId xmlns:a16="http://schemas.microsoft.com/office/drawing/2014/main" val="258806820"/>
                    </a:ext>
                  </a:extLst>
                </a:gridCol>
              </a:tblGrid>
              <a:tr h="370840">
                <a:tc>
                  <a:txBody>
                    <a:bodyPr/>
                    <a:lstStyle/>
                    <a:p>
                      <a:pPr algn="ctr"/>
                      <a:r>
                        <a:rPr lang="en-AU" b="0" dirty="0">
                          <a:solidFill>
                            <a:schemeClr val="tx1"/>
                          </a:solidFill>
                        </a:rPr>
                        <a:t>45</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973499"/>
                  </a:ext>
                </a:extLst>
              </a:tr>
            </a:tbl>
          </a:graphicData>
        </a:graphic>
      </p:graphicFrame>
      <p:cxnSp>
        <p:nvCxnSpPr>
          <p:cNvPr id="103" name="Прямая соединительная линия 102">
            <a:extLst>
              <a:ext uri="{FF2B5EF4-FFF2-40B4-BE49-F238E27FC236}">
                <a16:creationId xmlns:a16="http://schemas.microsoft.com/office/drawing/2014/main" id="{8545F833-A062-464A-AFC4-E160068BC899}"/>
              </a:ext>
            </a:extLst>
          </p:cNvPr>
          <p:cNvCxnSpPr>
            <a:cxnSpLocks/>
            <a:stCxn id="57" idx="2"/>
          </p:cNvCxnSpPr>
          <p:nvPr/>
        </p:nvCxnSpPr>
        <p:spPr>
          <a:xfrm>
            <a:off x="3909059" y="5464164"/>
            <a:ext cx="1" cy="327663"/>
          </a:xfrm>
          <a:prstGeom prst="line">
            <a:avLst/>
          </a:prstGeom>
        </p:spPr>
        <p:style>
          <a:lnRef idx="1">
            <a:schemeClr val="dk1"/>
          </a:lnRef>
          <a:fillRef idx="0">
            <a:schemeClr val="dk1"/>
          </a:fillRef>
          <a:effectRef idx="0">
            <a:schemeClr val="dk1"/>
          </a:effectRef>
          <a:fontRef idx="minor">
            <a:schemeClr val="tx1"/>
          </a:fontRef>
        </p:style>
      </p:cxnSp>
      <p:cxnSp>
        <p:nvCxnSpPr>
          <p:cNvPr id="104" name="Прямая соединительная линия 103">
            <a:extLst>
              <a:ext uri="{FF2B5EF4-FFF2-40B4-BE49-F238E27FC236}">
                <a16:creationId xmlns:a16="http://schemas.microsoft.com/office/drawing/2014/main" id="{50858BEA-7BA6-4BEB-BC6F-59847B221470}"/>
              </a:ext>
            </a:extLst>
          </p:cNvPr>
          <p:cNvCxnSpPr>
            <a:cxnSpLocks/>
          </p:cNvCxnSpPr>
          <p:nvPr/>
        </p:nvCxnSpPr>
        <p:spPr>
          <a:xfrm>
            <a:off x="3909059" y="5791827"/>
            <a:ext cx="3110641" cy="0"/>
          </a:xfrm>
          <a:prstGeom prst="line">
            <a:avLst/>
          </a:prstGeom>
        </p:spPr>
        <p:style>
          <a:lnRef idx="1">
            <a:schemeClr val="dk1"/>
          </a:lnRef>
          <a:fillRef idx="0">
            <a:schemeClr val="dk1"/>
          </a:fillRef>
          <a:effectRef idx="0">
            <a:schemeClr val="dk1"/>
          </a:effectRef>
          <a:fontRef idx="minor">
            <a:schemeClr val="tx1"/>
          </a:fontRef>
        </p:style>
      </p:cxnSp>
      <p:cxnSp>
        <p:nvCxnSpPr>
          <p:cNvPr id="105" name="Прямая соединительная линия 104">
            <a:extLst>
              <a:ext uri="{FF2B5EF4-FFF2-40B4-BE49-F238E27FC236}">
                <a16:creationId xmlns:a16="http://schemas.microsoft.com/office/drawing/2014/main" id="{7793A379-46CA-470E-B747-1A43B7407AD9}"/>
              </a:ext>
            </a:extLst>
          </p:cNvPr>
          <p:cNvCxnSpPr>
            <a:cxnSpLocks/>
          </p:cNvCxnSpPr>
          <p:nvPr/>
        </p:nvCxnSpPr>
        <p:spPr>
          <a:xfrm>
            <a:off x="8507392" y="5459205"/>
            <a:ext cx="0" cy="332622"/>
          </a:xfrm>
          <a:prstGeom prst="line">
            <a:avLst/>
          </a:prstGeom>
        </p:spPr>
        <p:style>
          <a:lnRef idx="1">
            <a:schemeClr val="dk1"/>
          </a:lnRef>
          <a:fillRef idx="0">
            <a:schemeClr val="dk1"/>
          </a:fillRef>
          <a:effectRef idx="0">
            <a:schemeClr val="dk1"/>
          </a:effectRef>
          <a:fontRef idx="minor">
            <a:schemeClr val="tx1"/>
          </a:fontRef>
        </p:style>
      </p:cxnSp>
      <p:cxnSp>
        <p:nvCxnSpPr>
          <p:cNvPr id="106" name="Прямая соединительная линия 105">
            <a:extLst>
              <a:ext uri="{FF2B5EF4-FFF2-40B4-BE49-F238E27FC236}">
                <a16:creationId xmlns:a16="http://schemas.microsoft.com/office/drawing/2014/main" id="{9B86F9C0-5262-42DF-ADDA-3AF845E170C2}"/>
              </a:ext>
            </a:extLst>
          </p:cNvPr>
          <p:cNvCxnSpPr>
            <a:cxnSpLocks/>
          </p:cNvCxnSpPr>
          <p:nvPr/>
        </p:nvCxnSpPr>
        <p:spPr>
          <a:xfrm>
            <a:off x="7019700" y="5791827"/>
            <a:ext cx="1487692" cy="0"/>
          </a:xfrm>
          <a:prstGeom prst="line">
            <a:avLst/>
          </a:prstGeom>
        </p:spPr>
        <p:style>
          <a:lnRef idx="1">
            <a:schemeClr val="dk1"/>
          </a:lnRef>
          <a:fillRef idx="0">
            <a:schemeClr val="dk1"/>
          </a:fillRef>
          <a:effectRef idx="0">
            <a:schemeClr val="dk1"/>
          </a:effectRef>
          <a:fontRef idx="minor">
            <a:schemeClr val="tx1"/>
          </a:fontRef>
        </p:style>
      </p:cxnSp>
      <p:cxnSp>
        <p:nvCxnSpPr>
          <p:cNvPr id="107" name="Прямая со стрелкой 106">
            <a:extLst>
              <a:ext uri="{FF2B5EF4-FFF2-40B4-BE49-F238E27FC236}">
                <a16:creationId xmlns:a16="http://schemas.microsoft.com/office/drawing/2014/main" id="{14E3EDEC-CA89-46BE-A0CA-CFCEAD762339}"/>
              </a:ext>
            </a:extLst>
          </p:cNvPr>
          <p:cNvCxnSpPr>
            <a:cxnSpLocks/>
            <a:endCxn id="108" idx="0"/>
          </p:cNvCxnSpPr>
          <p:nvPr/>
        </p:nvCxnSpPr>
        <p:spPr>
          <a:xfrm>
            <a:off x="6293556" y="5791827"/>
            <a:ext cx="2" cy="3276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08" name="Таблица 18">
            <a:extLst>
              <a:ext uri="{FF2B5EF4-FFF2-40B4-BE49-F238E27FC236}">
                <a16:creationId xmlns:a16="http://schemas.microsoft.com/office/drawing/2014/main" id="{1D0CC196-D04E-4002-BB0C-96FB39763387}"/>
              </a:ext>
            </a:extLst>
          </p:cNvPr>
          <p:cNvGraphicFramePr>
            <a:graphicFrameLocks noGrp="1"/>
          </p:cNvGraphicFramePr>
          <p:nvPr>
            <p:extLst>
              <p:ext uri="{D42A27DB-BD31-4B8C-83A1-F6EECF244321}">
                <p14:modId xmlns:p14="http://schemas.microsoft.com/office/powerpoint/2010/main" val="2519189404"/>
              </p:ext>
            </p:extLst>
          </p:nvPr>
        </p:nvGraphicFramePr>
        <p:xfrm>
          <a:off x="5634651" y="6119491"/>
          <a:ext cx="1317815" cy="370840"/>
        </p:xfrm>
        <a:graphic>
          <a:graphicData uri="http://schemas.openxmlformats.org/drawingml/2006/table">
            <a:tbl>
              <a:tblPr firstRow="1" bandRow="1">
                <a:tableStyleId>{5C22544A-7EE6-4342-B048-85BDC9FD1C3A}</a:tableStyleId>
              </a:tblPr>
              <a:tblGrid>
                <a:gridCol w="1317815">
                  <a:extLst>
                    <a:ext uri="{9D8B030D-6E8A-4147-A177-3AD203B41FA5}">
                      <a16:colId xmlns:a16="http://schemas.microsoft.com/office/drawing/2014/main" val="258806820"/>
                    </a:ext>
                  </a:extLst>
                </a:gridCol>
              </a:tblGrid>
              <a:tr h="370840">
                <a:tc>
                  <a:txBody>
                    <a:bodyPr/>
                    <a:lstStyle/>
                    <a:p>
                      <a:pPr algn="ctr"/>
                      <a:r>
                        <a:rPr lang="en-AU" b="0" dirty="0">
                          <a:solidFill>
                            <a:schemeClr val="tx1"/>
                          </a:solidFill>
                        </a:rPr>
                        <a:t>100</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973499"/>
                  </a:ext>
                </a:extLst>
              </a:tr>
            </a:tbl>
          </a:graphicData>
        </a:graphic>
      </p:graphicFrame>
    </p:spTree>
    <p:extLst>
      <p:ext uri="{BB962C8B-B14F-4D97-AF65-F5344CB8AC3E}">
        <p14:creationId xmlns:p14="http://schemas.microsoft.com/office/powerpoint/2010/main" val="213913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1523"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101875"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9261434" cy="2862322"/>
          </a:xfrm>
          <a:prstGeom prst="rect">
            <a:avLst/>
          </a:prstGeom>
          <a:noFill/>
        </p:spPr>
        <p:txBody>
          <a:bodyPr wrap="square" rtlCol="0">
            <a:spAutoFit/>
          </a:bodyPr>
          <a:lstStyle/>
          <a:p>
            <a:pPr rtl="0">
              <a:spcBef>
                <a:spcPts val="0"/>
              </a:spcBef>
              <a:spcAft>
                <a:spcPts val="0"/>
              </a:spcAft>
            </a:pPr>
            <a:r>
              <a:rPr lang="ru-RU" sz="1800" b="1" i="0" u="none" strike="noStrike" dirty="0">
                <a:solidFill>
                  <a:srgbClr val="E90479"/>
                </a:solidFill>
                <a:effectLst/>
                <a:latin typeface="Arial" panose="020B0604020202020204" pitchFamily="34" charset="0"/>
              </a:rPr>
              <a:t>Пример алгоритма Хаффмана</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spcBef>
                <a:spcPts val="0"/>
              </a:spcBef>
              <a:spcAft>
                <a:spcPts val="0"/>
              </a:spcAft>
            </a:pPr>
            <a:r>
              <a:rPr lang="ru-RU" b="0" i="0" dirty="0">
                <a:solidFill>
                  <a:srgbClr val="000000"/>
                </a:solidFill>
                <a:effectLst/>
                <a:latin typeface="arial" panose="020B0604020202020204" pitchFamily="34" charset="0"/>
              </a:rPr>
              <a:t>Теперь когда наше дерево создано, мы можем кодировать файл . Мы должны все</a:t>
            </a:r>
            <a:r>
              <a:rPr lang="ru-RU" dirty="0">
                <a:solidFill>
                  <a:srgbClr val="000000"/>
                </a:solidFill>
                <a:latin typeface="arial" panose="020B0604020202020204" pitchFamily="34" charset="0"/>
              </a:rPr>
              <a:t>г</a:t>
            </a:r>
            <a:r>
              <a:rPr lang="ru-RU" b="0" i="0" dirty="0">
                <a:solidFill>
                  <a:srgbClr val="000000"/>
                </a:solidFill>
                <a:effectLst/>
                <a:latin typeface="arial" panose="020B0604020202020204" pitchFamily="34" charset="0"/>
              </a:rPr>
              <a:t>да начинать из корня. Кодируя первый символ (лист дерева С) Мы прослеживаем вверх по дереву все повороты ветвей и если мы делаем левый поворот, то запоминаем 0-й бит, и аналогично 1-й бит для правого поворота. Так для C, мы будем идти влево к 55 ( и запомним 0 ), затем снова влево (0) к самому символу . Код Хаффмана для нашего символа C - 00. Для следующего символа ( А ) у нас получается - </a:t>
            </a:r>
            <a:r>
              <a:rPr lang="ru-RU" b="0" i="0" dirty="0" err="1">
                <a:solidFill>
                  <a:srgbClr val="000000"/>
                </a:solidFill>
                <a:effectLst/>
                <a:latin typeface="arial" panose="020B0604020202020204" pitchFamily="34" charset="0"/>
              </a:rPr>
              <a:t>лево,право,лево,лево</a:t>
            </a:r>
            <a:r>
              <a:rPr lang="ru-RU" b="0" i="0" dirty="0">
                <a:solidFill>
                  <a:srgbClr val="000000"/>
                </a:solidFill>
                <a:effectLst/>
                <a:latin typeface="arial" panose="020B0604020202020204" pitchFamily="34" charset="0"/>
              </a:rPr>
              <a:t> , что выливается в последовательность 0100. Выполнив выше сказанное для всех символов получим</a:t>
            </a:r>
            <a:r>
              <a:rPr lang="en-AU" dirty="0">
                <a:solidFill>
                  <a:srgbClr val="000000"/>
                </a:solidFill>
                <a:latin typeface="arial" panose="020B0604020202020204" pitchFamily="34" charset="0"/>
              </a:rPr>
              <a:t>:</a:t>
            </a:r>
            <a:endParaRPr lang="ru-RU" dirty="0"/>
          </a:p>
        </p:txBody>
      </p:sp>
      <p:graphicFrame>
        <p:nvGraphicFramePr>
          <p:cNvPr id="3" name="Таблица 3">
            <a:extLst>
              <a:ext uri="{FF2B5EF4-FFF2-40B4-BE49-F238E27FC236}">
                <a16:creationId xmlns:a16="http://schemas.microsoft.com/office/drawing/2014/main" id="{881EF27B-E779-4EDC-9AEF-CB24866DA5D0}"/>
              </a:ext>
            </a:extLst>
          </p:cNvPr>
          <p:cNvGraphicFramePr>
            <a:graphicFrameLocks noGrp="1"/>
          </p:cNvGraphicFramePr>
          <p:nvPr>
            <p:extLst>
              <p:ext uri="{D42A27DB-BD31-4B8C-83A1-F6EECF244321}">
                <p14:modId xmlns:p14="http://schemas.microsoft.com/office/powerpoint/2010/main" val="2918272436"/>
              </p:ext>
            </p:extLst>
          </p:nvPr>
        </p:nvGraphicFramePr>
        <p:xfrm>
          <a:off x="965200" y="4009713"/>
          <a:ext cx="2808942" cy="2225040"/>
        </p:xfrm>
        <a:graphic>
          <a:graphicData uri="http://schemas.openxmlformats.org/drawingml/2006/table">
            <a:tbl>
              <a:tblPr firstRow="1" bandRow="1">
                <a:tableStyleId>{5C22544A-7EE6-4342-B048-85BDC9FD1C3A}</a:tableStyleId>
              </a:tblPr>
              <a:tblGrid>
                <a:gridCol w="1404471">
                  <a:extLst>
                    <a:ext uri="{9D8B030D-6E8A-4147-A177-3AD203B41FA5}">
                      <a16:colId xmlns:a16="http://schemas.microsoft.com/office/drawing/2014/main" val="2585771798"/>
                    </a:ext>
                  </a:extLst>
                </a:gridCol>
                <a:gridCol w="1404471">
                  <a:extLst>
                    <a:ext uri="{9D8B030D-6E8A-4147-A177-3AD203B41FA5}">
                      <a16:colId xmlns:a16="http://schemas.microsoft.com/office/drawing/2014/main" val="4213847039"/>
                    </a:ext>
                  </a:extLst>
                </a:gridCol>
              </a:tblGrid>
              <a:tr h="370840">
                <a:tc>
                  <a:txBody>
                    <a:bodyPr/>
                    <a:lstStyle/>
                    <a:p>
                      <a:pPr algn="ctr"/>
                      <a:r>
                        <a:rPr lang="en-AU" b="0" dirty="0">
                          <a:solidFill>
                            <a:schemeClr val="tx1"/>
                          </a:solidFill>
                        </a:rPr>
                        <a:t>C</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00</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2371670"/>
                  </a:ext>
                </a:extLst>
              </a:tr>
              <a:tr h="370840">
                <a:tc>
                  <a:txBody>
                    <a:bodyPr/>
                    <a:lstStyle/>
                    <a:p>
                      <a:pPr algn="ctr"/>
                      <a:r>
                        <a:rPr lang="en-AU" b="0" dirty="0">
                          <a:solidFill>
                            <a:schemeClr val="tx1"/>
                          </a:solidFill>
                        </a:rPr>
                        <a:t>A</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0100</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8497221"/>
                  </a:ext>
                </a:extLst>
              </a:tr>
              <a:tr h="370840">
                <a:tc>
                  <a:txBody>
                    <a:bodyPr/>
                    <a:lstStyle/>
                    <a:p>
                      <a:pPr algn="ctr"/>
                      <a:r>
                        <a:rPr lang="en-AU" b="0" dirty="0">
                          <a:solidFill>
                            <a:schemeClr val="tx1"/>
                          </a:solidFill>
                        </a:rPr>
                        <a:t>D</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0101</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5919980"/>
                  </a:ext>
                </a:extLst>
              </a:tr>
              <a:tr h="370840">
                <a:tc>
                  <a:txBody>
                    <a:bodyPr/>
                    <a:lstStyle/>
                    <a:p>
                      <a:pPr algn="ctr"/>
                      <a:r>
                        <a:rPr lang="en-AU" b="0" dirty="0">
                          <a:solidFill>
                            <a:schemeClr val="tx1"/>
                          </a:solidFill>
                        </a:rPr>
                        <a:t>F</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011</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887143"/>
                  </a:ext>
                </a:extLst>
              </a:tr>
              <a:tr h="370840">
                <a:tc>
                  <a:txBody>
                    <a:bodyPr/>
                    <a:lstStyle/>
                    <a:p>
                      <a:pPr algn="ctr"/>
                      <a:r>
                        <a:rPr lang="en-AU" b="0" dirty="0">
                          <a:solidFill>
                            <a:schemeClr val="tx1"/>
                          </a:solidFill>
                        </a:rPr>
                        <a:t>B</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10</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013751"/>
                  </a:ext>
                </a:extLst>
              </a:tr>
              <a:tr h="370840">
                <a:tc>
                  <a:txBody>
                    <a:bodyPr/>
                    <a:lstStyle/>
                    <a:p>
                      <a:pPr algn="ctr"/>
                      <a:r>
                        <a:rPr lang="en-AU" b="0" dirty="0">
                          <a:solidFill>
                            <a:schemeClr val="tx1"/>
                          </a:solidFill>
                        </a:rPr>
                        <a:t>E</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AU" b="0" dirty="0">
                          <a:solidFill>
                            <a:schemeClr val="tx1"/>
                          </a:solidFill>
                        </a:rPr>
                        <a:t>11</a:t>
                      </a:r>
                      <a:endParaRPr lang="ru-RU"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5272896"/>
                  </a:ext>
                </a:extLst>
              </a:tr>
            </a:tbl>
          </a:graphicData>
        </a:graphic>
      </p:graphicFrame>
    </p:spTree>
    <p:extLst>
      <p:ext uri="{BB962C8B-B14F-4D97-AF65-F5344CB8AC3E}">
        <p14:creationId xmlns:p14="http://schemas.microsoft.com/office/powerpoint/2010/main" val="3358495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0733"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283224"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Виды сжатия информации</a:t>
            </a:r>
          </a:p>
        </p:txBody>
      </p:sp>
      <p:sp>
        <p:nvSpPr>
          <p:cNvPr id="5" name="TextBox 4">
            <a:extLst>
              <a:ext uri="{FF2B5EF4-FFF2-40B4-BE49-F238E27FC236}">
                <a16:creationId xmlns:a16="http://schemas.microsoft.com/office/drawing/2014/main" id="{14A3E047-B636-4369-8BCE-CB15FA5C1582}"/>
              </a:ext>
            </a:extLst>
          </p:cNvPr>
          <p:cNvSpPr txBox="1"/>
          <p:nvPr/>
        </p:nvSpPr>
        <p:spPr>
          <a:xfrm>
            <a:off x="947057" y="1066801"/>
            <a:ext cx="10193511" cy="4524315"/>
          </a:xfrm>
          <a:prstGeom prst="rect">
            <a:avLst/>
          </a:prstGeom>
          <a:noFill/>
        </p:spPr>
        <p:txBody>
          <a:bodyPr wrap="square" rtlCol="0">
            <a:spAutoFit/>
          </a:bodyPr>
          <a:lstStyle/>
          <a:p>
            <a:r>
              <a:rPr lang="ru-RU" dirty="0" smtClean="0">
                <a:latin typeface="Calibri" panose="020F0502020204030204" pitchFamily="34" charset="0"/>
                <a:ea typeface="Calibri" panose="020F0502020204030204" pitchFamily="34" charset="0"/>
                <a:cs typeface="Times New Roman" panose="02020603050405020304" pitchFamily="18" charset="0"/>
              </a:rPr>
              <a:t>Одним </a:t>
            </a:r>
            <a:r>
              <a:rPr lang="ru-RU" dirty="0">
                <a:latin typeface="Calibri" panose="020F0502020204030204" pitchFamily="34" charset="0"/>
                <a:ea typeface="Calibri" panose="020F0502020204030204" pitchFamily="34" charset="0"/>
                <a:cs typeface="Times New Roman" panose="02020603050405020304" pitchFamily="18" charset="0"/>
              </a:rPr>
              <a:t>из наиболее современных и передовых </a:t>
            </a:r>
            <a:r>
              <a:rPr lang="ru-RU" dirty="0" err="1">
                <a:latin typeface="Calibri" panose="020F0502020204030204" pitchFamily="34" charset="0"/>
                <a:ea typeface="Calibri" panose="020F0502020204030204" pitchFamily="34" charset="0"/>
                <a:cs typeface="Times New Roman" panose="02020603050405020304" pitchFamily="18" charset="0"/>
              </a:rPr>
              <a:t>энтропийных</a:t>
            </a:r>
            <a:r>
              <a:rPr lang="ru-RU" dirty="0">
                <a:latin typeface="Calibri" panose="020F0502020204030204" pitchFamily="34" charset="0"/>
                <a:ea typeface="Calibri" panose="020F0502020204030204" pitchFamily="34" charset="0"/>
                <a:cs typeface="Times New Roman" panose="02020603050405020304" pitchFamily="18" charset="0"/>
              </a:rPr>
              <a:t> алгоритмов сжатия является семейство </a:t>
            </a:r>
            <a:r>
              <a:rPr lang="ru-RU" dirty="0">
                <a:solidFill>
                  <a:srgbClr val="013CBF"/>
                </a:solidFill>
                <a:latin typeface="Calibri" panose="020F0502020204030204" pitchFamily="34" charset="0"/>
                <a:ea typeface="Calibri" panose="020F0502020204030204" pitchFamily="34" charset="0"/>
                <a:cs typeface="Times New Roman" panose="02020603050405020304" pitchFamily="18" charset="0"/>
              </a:rPr>
              <a:t>алгоритмов арифметического сжатия</a:t>
            </a:r>
            <a:r>
              <a:rPr lang="ru-RU" dirty="0">
                <a:latin typeface="Calibri" panose="020F0502020204030204" pitchFamily="34" charset="0"/>
                <a:ea typeface="Calibri" panose="020F0502020204030204" pitchFamily="34" charset="0"/>
                <a:cs typeface="Times New Roman" panose="02020603050405020304" pitchFamily="18" charset="0"/>
              </a:rPr>
              <a:t>. Они позволяют достичь коэффициента сжатия, наиболее близкого к максимальному. Ценой за высокие показатели сжатия является трудоёмкость алгоритмов, и, следовательно, их высокая требовательность к вычислительным ресурсам. Арифметическое кодирование используется для сжатия контекстных последовательностей данных в последних стандартах сжатия видеоизображений JPEG2000, H.264 (MPEG-4 p.10, AVC) </a:t>
            </a:r>
            <a:r>
              <a:rPr lang="ru-RU" dirty="0" smtClean="0">
                <a:latin typeface="Calibri" panose="020F0502020204030204" pitchFamily="34" charset="0"/>
                <a:ea typeface="Calibri" panose="020F0502020204030204" pitchFamily="34" charset="0"/>
                <a:cs typeface="Times New Roman" panose="02020603050405020304" pitchFamily="18" charset="0"/>
              </a:rPr>
              <a:t>и т.д</a:t>
            </a:r>
            <a:r>
              <a:rPr lang="ru-RU" dirty="0">
                <a:latin typeface="Calibri" panose="020F0502020204030204" pitchFamily="34" charset="0"/>
                <a:ea typeface="Calibri" panose="020F0502020204030204" pitchFamily="34" charset="0"/>
                <a:cs typeface="Times New Roman" panose="02020603050405020304" pitchFamily="18" charset="0"/>
              </a:rPr>
              <a:t>. </a:t>
            </a:r>
            <a:r>
              <a:rPr lang="ru-RU" dirty="0">
                <a:solidFill>
                  <a:srgbClr val="00B050"/>
                </a:solidFill>
                <a:latin typeface="Calibri" panose="020F0502020204030204" pitchFamily="34" charset="0"/>
                <a:ea typeface="Calibri" panose="020F0502020204030204" pitchFamily="34" charset="0"/>
                <a:cs typeface="Times New Roman" panose="02020603050405020304" pitchFamily="18" charset="0"/>
              </a:rPr>
              <a:t>Растущие объемы данных и развитие сервисов информационных цифровых ресурсов также накладывают дальнейшие ограничения на работу алгоритмов - работа в реальном времени. Телефония, телевидение, видеоконференции требуют обработки информации наиболее быстрым способом. Такие требования послужили толчком к развитию направления в разработке программного обеспечения, которое сейчас востребовано на рынке софтверных услуг, – оптимизация программ. Множество компиляторов, операционных систем, типов процессоров и периферийных устройств, наконец, множество DSP устройств накладывают специфические условия на процесс оптимизации программ. Так называемая, универсальная оптимизация (алгоритмическая), хорошо описанная в научной литературе дает недостаточные результаты, все больше становится востребованная контекстная оптимизация, под определенный тип процессора, кэша, памяти, набор инструкций </a:t>
            </a:r>
            <a:r>
              <a:rPr lang="ru-RU" dirty="0" err="1">
                <a:solidFill>
                  <a:srgbClr val="00B050"/>
                </a:solidFill>
                <a:latin typeface="Calibri" panose="020F0502020204030204" pitchFamily="34" charset="0"/>
                <a:ea typeface="Calibri" panose="020F0502020204030204" pitchFamily="34" charset="0"/>
                <a:cs typeface="Times New Roman" panose="02020603050405020304" pitchFamily="18" charset="0"/>
              </a:rPr>
              <a:t>итд</a:t>
            </a:r>
            <a:endParaRPr lang="ru-RU" dirty="0">
              <a:solidFill>
                <a:srgbClr val="00B050"/>
              </a:solidFill>
            </a:endParaRPr>
          </a:p>
        </p:txBody>
      </p:sp>
    </p:spTree>
    <p:extLst>
      <p:ext uri="{BB962C8B-B14F-4D97-AF65-F5344CB8AC3E}">
        <p14:creationId xmlns:p14="http://schemas.microsoft.com/office/powerpoint/2010/main" val="225710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1757"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891660"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Арифметическое кодирование</a:t>
            </a:r>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947057" y="1186543"/>
            <a:ext cx="9627453" cy="2862322"/>
          </a:xfrm>
          <a:prstGeom prst="rect">
            <a:avLst/>
          </a:prstGeom>
          <a:noFill/>
        </p:spPr>
        <p:txBody>
          <a:bodyPr wrap="square" rtlCol="0">
            <a:spAutoFit/>
          </a:bodyPr>
          <a:lstStyle/>
          <a:p>
            <a:r>
              <a:rPr lang="ru-RU" dirty="0" smtClean="0">
                <a:solidFill>
                  <a:srgbClr val="111111"/>
                </a:solidFill>
                <a:latin typeface="Arial" panose="020B0604020202020204" pitchFamily="34" charset="0"/>
              </a:rPr>
              <a:t>Алгоритм Хаффмана эффективен только тогда, </a:t>
            </a:r>
            <a:r>
              <a:rPr lang="ru-RU" dirty="0">
                <a:solidFill>
                  <a:srgbClr val="111111"/>
                </a:solidFill>
                <a:latin typeface="Arial" panose="020B0604020202020204" pitchFamily="34" charset="0"/>
              </a:rPr>
              <a:t>когда частоты появления символов </a:t>
            </a:r>
            <a:r>
              <a:rPr lang="ru-RU" dirty="0" smtClean="0">
                <a:solidFill>
                  <a:srgbClr val="111111"/>
                </a:solidFill>
                <a:latin typeface="Arial" panose="020B0604020202020204" pitchFamily="34" charset="0"/>
              </a:rPr>
              <a:t>пропорциональны </a:t>
            </a:r>
            <a:r>
              <a:rPr lang="ru-RU" dirty="0">
                <a:solidFill>
                  <a:srgbClr val="111111"/>
                </a:solidFill>
                <a:latin typeface="Arial" panose="020B0604020202020204" pitchFamily="34" charset="0"/>
              </a:rPr>
              <a:t>1/2n (где n – натуральное положительное число). Это утверждение становится очевидным, если вспомнить, что коды Хаффмана для каждого символа всегда состоят из целого числа бит. Рассмотрим ситуацию, когда частота появление символа равна 0,2, тогда оптимальный код для кодирования это символа должен иметь длину –log</a:t>
            </a:r>
            <a:r>
              <a:rPr lang="ru-RU" baseline="-25000" dirty="0">
                <a:solidFill>
                  <a:srgbClr val="111111"/>
                </a:solidFill>
                <a:latin typeface="Arial" panose="020B0604020202020204" pitchFamily="34" charset="0"/>
              </a:rPr>
              <a:t>2</a:t>
            </a:r>
            <a:r>
              <a:rPr lang="ru-RU" dirty="0">
                <a:solidFill>
                  <a:srgbClr val="111111"/>
                </a:solidFill>
                <a:latin typeface="Arial" panose="020B0604020202020204" pitchFamily="34" charset="0"/>
              </a:rPr>
              <a:t>(0,2)=2,3 бита. Понятно, что префиксный код Хаффмана не может иметь такую длину, т.е. в конечном итоге это приводит к ухудшению сжатия данных.</a:t>
            </a:r>
          </a:p>
          <a:p>
            <a:r>
              <a:rPr lang="ru-RU" dirty="0">
                <a:solidFill>
                  <a:srgbClr val="111111"/>
                </a:solidFill>
                <a:latin typeface="Arial" panose="020B0604020202020204" pitchFamily="34" charset="0"/>
              </a:rPr>
              <a:t>Арифметическое кодирование предназначено для того, чтобы решить эту проблему. Основная идея заключается в том, чтобы присваивать коды не отдельным символам, а их последовательностям.</a:t>
            </a:r>
            <a:endParaRPr lang="ru-RU" dirty="0">
              <a:solidFill>
                <a:srgbClr val="111111"/>
              </a:solidFill>
              <a:latin typeface="Arial" panose="020B0604020202020204" pitchFamily="34" charset="0"/>
            </a:endParaRPr>
          </a:p>
        </p:txBody>
      </p:sp>
    </p:spTree>
    <p:extLst>
      <p:ext uri="{BB962C8B-B14F-4D97-AF65-F5344CB8AC3E}">
        <p14:creationId xmlns:p14="http://schemas.microsoft.com/office/powerpoint/2010/main" val="2604957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2780"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891660"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Арифметическое кодирование</a:t>
            </a:r>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947057" y="1186543"/>
            <a:ext cx="9627453" cy="4524315"/>
          </a:xfrm>
          <a:prstGeom prst="rect">
            <a:avLst/>
          </a:prstGeom>
          <a:noFill/>
        </p:spPr>
        <p:txBody>
          <a:bodyPr wrap="square" rtlCol="0">
            <a:spAutoFit/>
          </a:bodyPr>
          <a:lstStyle/>
          <a:p>
            <a:r>
              <a:rPr lang="ru-RU" dirty="0">
                <a:solidFill>
                  <a:srgbClr val="111111"/>
                </a:solidFill>
                <a:latin typeface="Arial" panose="020B0604020202020204" pitchFamily="34" charset="0"/>
              </a:rPr>
              <a:t>Как и во всех </a:t>
            </a:r>
            <a:r>
              <a:rPr lang="ru-RU" dirty="0" err="1">
                <a:solidFill>
                  <a:srgbClr val="111111"/>
                </a:solidFill>
                <a:latin typeface="Arial" panose="020B0604020202020204" pitchFamily="34" charset="0"/>
              </a:rPr>
              <a:t>энтропийных</a:t>
            </a:r>
            <a:r>
              <a:rPr lang="ru-RU" dirty="0">
                <a:solidFill>
                  <a:srgbClr val="111111"/>
                </a:solidFill>
                <a:latin typeface="Arial" panose="020B0604020202020204" pitchFamily="34" charset="0"/>
              </a:rPr>
              <a:t> алгоритмах </a:t>
            </a:r>
            <a:r>
              <a:rPr lang="ru-RU" dirty="0" smtClean="0">
                <a:solidFill>
                  <a:srgbClr val="111111"/>
                </a:solidFill>
                <a:latin typeface="Arial" panose="020B0604020202020204" pitchFamily="34" charset="0"/>
              </a:rPr>
              <a:t>известна частота </a:t>
            </a:r>
            <a:r>
              <a:rPr lang="ru-RU" dirty="0">
                <a:solidFill>
                  <a:srgbClr val="111111"/>
                </a:solidFill>
                <a:latin typeface="Arial" panose="020B0604020202020204" pitchFamily="34" charset="0"/>
              </a:rPr>
              <a:t>использования каждого символа алфавита. Эта информация является исходной для рассматриваемого метода</a:t>
            </a:r>
            <a:r>
              <a:rPr lang="ru-RU" dirty="0" smtClean="0">
                <a:solidFill>
                  <a:srgbClr val="111111"/>
                </a:solidFill>
                <a:latin typeface="Arial" panose="020B0604020202020204" pitchFamily="34" charset="0"/>
              </a:rPr>
              <a:t>.</a:t>
            </a:r>
          </a:p>
          <a:p>
            <a:endParaRPr lang="ru-RU" dirty="0">
              <a:solidFill>
                <a:srgbClr val="111111"/>
              </a:solidFill>
              <a:latin typeface="Arial" panose="020B0604020202020204" pitchFamily="34" charset="0"/>
            </a:endParaRPr>
          </a:p>
          <a:p>
            <a:r>
              <a:rPr lang="ru-RU" dirty="0" smtClean="0">
                <a:solidFill>
                  <a:srgbClr val="111111"/>
                </a:solidFill>
                <a:latin typeface="Arial" panose="020B0604020202020204" pitchFamily="34" charset="0"/>
              </a:rPr>
              <a:t> </a:t>
            </a:r>
            <a:r>
              <a:rPr lang="ru-RU" dirty="0">
                <a:solidFill>
                  <a:srgbClr val="111111"/>
                </a:solidFill>
                <a:latin typeface="Arial" panose="020B0604020202020204" pitchFamily="34" charset="0"/>
              </a:rPr>
              <a:t>Теперь введём понятие </a:t>
            </a:r>
            <a:r>
              <a:rPr lang="ru-RU" dirty="0">
                <a:solidFill>
                  <a:srgbClr val="000392"/>
                </a:solidFill>
                <a:latin typeface="Arial" panose="020B0604020202020204" pitchFamily="34" charset="0"/>
              </a:rPr>
              <a:t>рабочего отрезка</a:t>
            </a:r>
            <a:r>
              <a:rPr lang="ru-RU" dirty="0">
                <a:solidFill>
                  <a:srgbClr val="111111"/>
                </a:solidFill>
                <a:latin typeface="Arial" panose="020B0604020202020204" pitchFamily="34" charset="0"/>
              </a:rPr>
              <a:t>. Рабочим называется полуинтервал [</a:t>
            </a:r>
            <a:r>
              <a:rPr lang="ru-RU" dirty="0" err="1">
                <a:solidFill>
                  <a:srgbClr val="111111"/>
                </a:solidFill>
                <a:latin typeface="Arial" panose="020B0604020202020204" pitchFamily="34" charset="0"/>
              </a:rPr>
              <a:t>a;b</a:t>
            </a:r>
            <a:r>
              <a:rPr lang="ru-RU" dirty="0">
                <a:solidFill>
                  <a:srgbClr val="111111"/>
                </a:solidFill>
                <a:latin typeface="Arial" panose="020B0604020202020204" pitchFamily="34" charset="0"/>
              </a:rPr>
              <a:t>) с расположенными на нём точками. Причём точки расположены </a:t>
            </a:r>
            <a:r>
              <a:rPr lang="ru-RU" dirty="0" err="1">
                <a:solidFill>
                  <a:srgbClr val="111111"/>
                </a:solidFill>
                <a:latin typeface="Arial" panose="020B0604020202020204" pitchFamily="34" charset="0"/>
              </a:rPr>
              <a:t>т.о</a:t>
            </a:r>
            <a:r>
              <a:rPr lang="ru-RU" dirty="0">
                <a:solidFill>
                  <a:srgbClr val="111111"/>
                </a:solidFill>
                <a:latin typeface="Arial" panose="020B0604020202020204" pitchFamily="34" charset="0"/>
              </a:rPr>
              <a:t>., что длины образованных ими отрезков равны частоте использования символов. При инициализации алгоритма a=0 b=1</a:t>
            </a:r>
            <a:r>
              <a:rPr lang="ru-RU" dirty="0" smtClean="0">
                <a:solidFill>
                  <a:srgbClr val="111111"/>
                </a:solidFill>
                <a:latin typeface="Arial" panose="020B0604020202020204" pitchFamily="34" charset="0"/>
              </a:rPr>
              <a:t>.</a:t>
            </a:r>
          </a:p>
          <a:p>
            <a:endParaRPr lang="ru-RU" dirty="0">
              <a:solidFill>
                <a:srgbClr val="111111"/>
              </a:solidFill>
              <a:latin typeface="Arial" panose="020B0604020202020204" pitchFamily="34" charset="0"/>
            </a:endParaRPr>
          </a:p>
          <a:p>
            <a:r>
              <a:rPr lang="ru-RU" dirty="0">
                <a:solidFill>
                  <a:srgbClr val="000392"/>
                </a:solidFill>
                <a:latin typeface="Arial" panose="020B0604020202020204" pitchFamily="34" charset="0"/>
              </a:rPr>
              <a:t>Один шаг кодирования </a:t>
            </a:r>
            <a:r>
              <a:rPr lang="ru-RU" dirty="0">
                <a:solidFill>
                  <a:srgbClr val="111111"/>
                </a:solidFill>
                <a:latin typeface="Arial" panose="020B0604020202020204" pitchFamily="34" charset="0"/>
              </a:rPr>
              <a:t>заключается в простой операции: берётся кодируемый символ, для него ищется соответствующий участок на рабочем отрезке. Найденный участок становится новым рабочим отрезком (т.е. его тоже необходимо разбить с помощью точек).</a:t>
            </a:r>
          </a:p>
          <a:p>
            <a:r>
              <a:rPr lang="ru-RU" dirty="0">
                <a:solidFill>
                  <a:srgbClr val="111111"/>
                </a:solidFill>
                <a:latin typeface="Arial" panose="020B0604020202020204" pitchFamily="34" charset="0"/>
              </a:rPr>
              <a:t>Эта операция выполняется для некоторого количества символов исходного потока. Результатом кодирования цепочки символов является любое число (а также длина его битовой записи) с итогового рабочего отрезка (чаще всего берётся левая граница отрезка).</a:t>
            </a:r>
          </a:p>
        </p:txBody>
      </p:sp>
    </p:spTree>
    <p:extLst>
      <p:ext uri="{BB962C8B-B14F-4D97-AF65-F5344CB8AC3E}">
        <p14:creationId xmlns:p14="http://schemas.microsoft.com/office/powerpoint/2010/main" val="423442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3805"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891660"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Арифметическое кодирование</a:t>
            </a:r>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783771" y="1023257"/>
            <a:ext cx="9627453" cy="369332"/>
          </a:xfrm>
          <a:prstGeom prst="rect">
            <a:avLst/>
          </a:prstGeom>
          <a:noFill/>
        </p:spPr>
        <p:txBody>
          <a:bodyPr wrap="square" rtlCol="0">
            <a:spAutoFit/>
          </a:bodyPr>
          <a:lstStyle/>
          <a:p>
            <a:r>
              <a:rPr lang="ru-RU">
                <a:solidFill>
                  <a:srgbClr val="111111"/>
                </a:solidFill>
                <a:latin typeface="Arial" panose="020B0604020202020204" pitchFamily="34" charset="0"/>
              </a:rPr>
              <a:t>«ЭТОТ_МЕТОД_ЛУЧШЕ_ХАФФМАНА» </a:t>
            </a:r>
            <a:endParaRPr lang="ru-RU" dirty="0">
              <a:solidFill>
                <a:srgbClr val="111111"/>
              </a:solidFill>
              <a:latin typeface="Arial" panose="020B0604020202020204" pitchFamily="34" charset="0"/>
            </a:endParaRPr>
          </a:p>
        </p:txBody>
      </p:sp>
      <p:pic>
        <p:nvPicPr>
          <p:cNvPr id="7" name="Рисунок 6"/>
          <p:cNvPicPr>
            <a:picLocks noChangeAspect="1"/>
          </p:cNvPicPr>
          <p:nvPr/>
        </p:nvPicPr>
        <p:blipFill>
          <a:blip r:embed="rId5"/>
          <a:stretch>
            <a:fillRect/>
          </a:stretch>
        </p:blipFill>
        <p:spPr>
          <a:xfrm>
            <a:off x="1300061" y="1665514"/>
            <a:ext cx="1464910" cy="4722494"/>
          </a:xfrm>
          <a:prstGeom prst="rect">
            <a:avLst/>
          </a:prstGeom>
        </p:spPr>
      </p:pic>
      <p:pic>
        <p:nvPicPr>
          <p:cNvPr id="8" name="Рисунок 7"/>
          <p:cNvPicPr>
            <a:picLocks noChangeAspect="1"/>
          </p:cNvPicPr>
          <p:nvPr/>
        </p:nvPicPr>
        <p:blipFill>
          <a:blip r:embed="rId6"/>
          <a:stretch>
            <a:fillRect/>
          </a:stretch>
        </p:blipFill>
        <p:spPr>
          <a:xfrm>
            <a:off x="2828158" y="2351314"/>
            <a:ext cx="8787230" cy="544286"/>
          </a:xfrm>
          <a:prstGeom prst="rect">
            <a:avLst/>
          </a:prstGeom>
        </p:spPr>
      </p:pic>
      <p:sp>
        <p:nvSpPr>
          <p:cNvPr id="9" name="Прямоугольник 8"/>
          <p:cNvSpPr/>
          <p:nvPr/>
        </p:nvSpPr>
        <p:spPr>
          <a:xfrm>
            <a:off x="3570513" y="3167743"/>
            <a:ext cx="7576457" cy="2308324"/>
          </a:xfrm>
          <a:prstGeom prst="rect">
            <a:avLst/>
          </a:prstGeom>
        </p:spPr>
        <p:txBody>
          <a:bodyPr wrap="square">
            <a:spAutoFit/>
          </a:bodyPr>
          <a:lstStyle/>
          <a:p>
            <a:r>
              <a:rPr lang="ru-RU" dirty="0"/>
              <a:t>Берём первый символ из потока, это символ «Э». Соответствующий ему отрезок – отрезок [0,96;1). Если бы мы хотели закодировать один символ, то результатом кодирования было бы любое число из этого отрезка. Но мы не остановимся на одном символе, а добавим ещё один. Символ «Т». Для этого составим новый рабочий отрезок с a=0,96 и b=1. Разбиваем этот отрезок точками точно так же как мы сделали это для исходного отрезка и считываем новый символ «Т». Символу «Т» соответствует диапазон [0,24;0,36), но наш рабочий отрезок уже сократился до отрезка [0,96;1). </a:t>
            </a:r>
          </a:p>
        </p:txBody>
      </p:sp>
    </p:spTree>
    <p:extLst>
      <p:ext uri="{BB962C8B-B14F-4D97-AF65-F5344CB8AC3E}">
        <p14:creationId xmlns:p14="http://schemas.microsoft.com/office/powerpoint/2010/main" val="1689056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4827"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891660"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Арифметическое кодирование</a:t>
            </a:r>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947057" y="1186543"/>
            <a:ext cx="9627453" cy="2308324"/>
          </a:xfrm>
          <a:prstGeom prst="rect">
            <a:avLst/>
          </a:prstGeom>
          <a:noFill/>
        </p:spPr>
        <p:txBody>
          <a:bodyPr wrap="square" rtlCol="0">
            <a:spAutoFit/>
          </a:bodyPr>
          <a:lstStyle/>
          <a:p>
            <a:r>
              <a:rPr lang="ru-RU" dirty="0" smtClean="0">
                <a:solidFill>
                  <a:srgbClr val="111111"/>
                </a:solidFill>
                <a:latin typeface="Arial" panose="020B0604020202020204" pitchFamily="34" charset="0"/>
              </a:rPr>
              <a:t>Нам необходимо пересчитать границы. </a:t>
            </a:r>
          </a:p>
          <a:p>
            <a:endParaRPr lang="ru-RU" dirty="0">
              <a:solidFill>
                <a:srgbClr val="111111"/>
              </a:solidFill>
              <a:latin typeface="Arial" panose="020B0604020202020204" pitchFamily="34" charset="0"/>
            </a:endParaRPr>
          </a:p>
          <a:p>
            <a:r>
              <a:rPr lang="en-US" dirty="0" smtClean="0">
                <a:solidFill>
                  <a:srgbClr val="111111"/>
                </a:solidFill>
                <a:latin typeface="Arial" panose="020B0604020202020204" pitchFamily="34" charset="0"/>
              </a:rPr>
              <a:t>High=</a:t>
            </a:r>
            <a:r>
              <a:rPr lang="en-US" dirty="0" err="1" smtClean="0">
                <a:solidFill>
                  <a:srgbClr val="111111"/>
                </a:solidFill>
                <a:latin typeface="Arial" panose="020B0604020202020204" pitchFamily="34" charset="0"/>
              </a:rPr>
              <a:t>Lowold</a:t>
            </a:r>
            <a:r>
              <a:rPr lang="en-US" dirty="0">
                <a:solidFill>
                  <a:srgbClr val="111111"/>
                </a:solidFill>
                <a:latin typeface="Arial" panose="020B0604020202020204" pitchFamily="34" charset="0"/>
              </a:rPr>
              <a:t>+(</a:t>
            </a:r>
            <a:r>
              <a:rPr lang="en-US" dirty="0" err="1">
                <a:solidFill>
                  <a:srgbClr val="111111"/>
                </a:solidFill>
                <a:latin typeface="Arial" panose="020B0604020202020204" pitchFamily="34" charset="0"/>
              </a:rPr>
              <a:t>Highold-Lowold</a:t>
            </a:r>
            <a:r>
              <a:rPr lang="en-US" dirty="0">
                <a:solidFill>
                  <a:srgbClr val="111111"/>
                </a:solidFill>
                <a:latin typeface="Arial" panose="020B0604020202020204" pitchFamily="34" charset="0"/>
              </a:rPr>
              <a:t>)*</a:t>
            </a:r>
            <a:r>
              <a:rPr lang="en-US" dirty="0" err="1">
                <a:solidFill>
                  <a:srgbClr val="111111"/>
                </a:solidFill>
                <a:latin typeface="Arial" panose="020B0604020202020204" pitchFamily="34" charset="0"/>
              </a:rPr>
              <a:t>RangeHigh</a:t>
            </a:r>
            <a:r>
              <a:rPr lang="en-US" dirty="0">
                <a:solidFill>
                  <a:srgbClr val="111111"/>
                </a:solidFill>
                <a:latin typeface="Arial" panose="020B0604020202020204" pitchFamily="34" charset="0"/>
              </a:rPr>
              <a:t>(x), </a:t>
            </a:r>
            <a:endParaRPr lang="ru-RU" dirty="0" smtClean="0">
              <a:solidFill>
                <a:srgbClr val="111111"/>
              </a:solidFill>
              <a:latin typeface="Arial" panose="020B0604020202020204" pitchFamily="34" charset="0"/>
            </a:endParaRPr>
          </a:p>
          <a:p>
            <a:r>
              <a:rPr lang="en-US" dirty="0" smtClean="0">
                <a:solidFill>
                  <a:srgbClr val="111111"/>
                </a:solidFill>
                <a:latin typeface="Arial" panose="020B0604020202020204" pitchFamily="34" charset="0"/>
              </a:rPr>
              <a:t>Low=</a:t>
            </a:r>
            <a:r>
              <a:rPr lang="en-US" dirty="0" err="1" smtClean="0">
                <a:solidFill>
                  <a:srgbClr val="111111"/>
                </a:solidFill>
                <a:latin typeface="Arial" panose="020B0604020202020204" pitchFamily="34" charset="0"/>
              </a:rPr>
              <a:t>Lowold</a:t>
            </a:r>
            <a:r>
              <a:rPr lang="en-US" dirty="0">
                <a:solidFill>
                  <a:srgbClr val="111111"/>
                </a:solidFill>
                <a:latin typeface="Arial" panose="020B0604020202020204" pitchFamily="34" charset="0"/>
              </a:rPr>
              <a:t>+(</a:t>
            </a:r>
            <a:r>
              <a:rPr lang="en-US" dirty="0" err="1">
                <a:solidFill>
                  <a:srgbClr val="111111"/>
                </a:solidFill>
                <a:latin typeface="Arial" panose="020B0604020202020204" pitchFamily="34" charset="0"/>
              </a:rPr>
              <a:t>Highold-Lowold</a:t>
            </a:r>
            <a:r>
              <a:rPr lang="en-US" dirty="0">
                <a:solidFill>
                  <a:srgbClr val="111111"/>
                </a:solidFill>
                <a:latin typeface="Arial" panose="020B0604020202020204" pitchFamily="34" charset="0"/>
              </a:rPr>
              <a:t>)*</a:t>
            </a:r>
            <a:r>
              <a:rPr lang="en-US" dirty="0" err="1">
                <a:solidFill>
                  <a:srgbClr val="111111"/>
                </a:solidFill>
                <a:latin typeface="Arial" panose="020B0604020202020204" pitchFamily="34" charset="0"/>
              </a:rPr>
              <a:t>RangeLow</a:t>
            </a:r>
            <a:r>
              <a:rPr lang="en-US" dirty="0">
                <a:solidFill>
                  <a:srgbClr val="111111"/>
                </a:solidFill>
                <a:latin typeface="Arial" panose="020B0604020202020204" pitchFamily="34" charset="0"/>
              </a:rPr>
              <a:t>(x</a:t>
            </a:r>
            <a:r>
              <a:rPr lang="en-US" dirty="0" smtClean="0">
                <a:solidFill>
                  <a:srgbClr val="111111"/>
                </a:solidFill>
                <a:latin typeface="Arial" panose="020B0604020202020204" pitchFamily="34" charset="0"/>
              </a:rPr>
              <a:t>),</a:t>
            </a:r>
            <a:endParaRPr lang="ru-RU" dirty="0" smtClean="0">
              <a:solidFill>
                <a:srgbClr val="111111"/>
              </a:solidFill>
              <a:latin typeface="Arial" panose="020B0604020202020204" pitchFamily="34" charset="0"/>
            </a:endParaRPr>
          </a:p>
          <a:p>
            <a:endParaRPr lang="ru-RU" dirty="0" smtClean="0">
              <a:solidFill>
                <a:srgbClr val="111111"/>
              </a:solidFill>
              <a:latin typeface="Arial" panose="020B0604020202020204" pitchFamily="34" charset="0"/>
            </a:endParaRPr>
          </a:p>
          <a:p>
            <a:r>
              <a:rPr lang="en-US" dirty="0" smtClean="0">
                <a:solidFill>
                  <a:srgbClr val="111111"/>
                </a:solidFill>
                <a:latin typeface="Arial" panose="020B0604020202020204" pitchFamily="34" charset="0"/>
              </a:rPr>
              <a:t> </a:t>
            </a:r>
            <a:r>
              <a:rPr lang="ru-RU" dirty="0">
                <a:solidFill>
                  <a:srgbClr val="111111"/>
                </a:solidFill>
                <a:latin typeface="Arial" panose="020B0604020202020204" pitchFamily="34" charset="0"/>
              </a:rPr>
              <a:t>где </a:t>
            </a:r>
            <a:r>
              <a:rPr lang="en-US" dirty="0" err="1">
                <a:solidFill>
                  <a:srgbClr val="111111"/>
                </a:solidFill>
                <a:latin typeface="Arial" panose="020B0604020202020204" pitchFamily="34" charset="0"/>
              </a:rPr>
              <a:t>Lowold</a:t>
            </a:r>
            <a:r>
              <a:rPr lang="en-US" dirty="0">
                <a:solidFill>
                  <a:srgbClr val="111111"/>
                </a:solidFill>
                <a:latin typeface="Arial" panose="020B0604020202020204" pitchFamily="34" charset="0"/>
              </a:rPr>
              <a:t> – </a:t>
            </a:r>
            <a:r>
              <a:rPr lang="ru-RU" dirty="0">
                <a:solidFill>
                  <a:srgbClr val="111111"/>
                </a:solidFill>
                <a:latin typeface="Arial" panose="020B0604020202020204" pitchFamily="34" charset="0"/>
              </a:rPr>
              <a:t>нижняя граница интервала, </a:t>
            </a:r>
            <a:endParaRPr lang="ru-RU" dirty="0" smtClean="0">
              <a:solidFill>
                <a:srgbClr val="111111"/>
              </a:solidFill>
              <a:latin typeface="Arial" panose="020B0604020202020204" pitchFamily="34" charset="0"/>
            </a:endParaRPr>
          </a:p>
          <a:p>
            <a:r>
              <a:rPr lang="en-US" dirty="0" err="1" smtClean="0">
                <a:solidFill>
                  <a:srgbClr val="111111"/>
                </a:solidFill>
                <a:latin typeface="Arial" panose="020B0604020202020204" pitchFamily="34" charset="0"/>
              </a:rPr>
              <a:t>Highold</a:t>
            </a:r>
            <a:r>
              <a:rPr lang="en-US" dirty="0" smtClean="0">
                <a:solidFill>
                  <a:srgbClr val="111111"/>
                </a:solidFill>
                <a:latin typeface="Arial" panose="020B0604020202020204" pitchFamily="34" charset="0"/>
              </a:rPr>
              <a:t> </a:t>
            </a:r>
            <a:r>
              <a:rPr lang="en-US" dirty="0">
                <a:solidFill>
                  <a:srgbClr val="111111"/>
                </a:solidFill>
                <a:latin typeface="Arial" panose="020B0604020202020204" pitchFamily="34" charset="0"/>
              </a:rPr>
              <a:t>– </a:t>
            </a:r>
            <a:r>
              <a:rPr lang="ru-RU" dirty="0">
                <a:solidFill>
                  <a:srgbClr val="111111"/>
                </a:solidFill>
                <a:latin typeface="Arial" panose="020B0604020202020204" pitchFamily="34" charset="0"/>
              </a:rPr>
              <a:t>верхняя граница интервала </a:t>
            </a:r>
            <a:endParaRPr lang="ru-RU" dirty="0" smtClean="0">
              <a:solidFill>
                <a:srgbClr val="111111"/>
              </a:solidFill>
              <a:latin typeface="Arial" panose="020B0604020202020204" pitchFamily="34" charset="0"/>
            </a:endParaRPr>
          </a:p>
          <a:p>
            <a:r>
              <a:rPr lang="en-US" dirty="0" err="1" smtClean="0">
                <a:solidFill>
                  <a:srgbClr val="111111"/>
                </a:solidFill>
                <a:latin typeface="Arial" panose="020B0604020202020204" pitchFamily="34" charset="0"/>
              </a:rPr>
              <a:t>RangeHigh</a:t>
            </a:r>
            <a:r>
              <a:rPr lang="en-US" dirty="0" smtClean="0">
                <a:solidFill>
                  <a:srgbClr val="111111"/>
                </a:solidFill>
                <a:latin typeface="Arial" panose="020B0604020202020204" pitchFamily="34" charset="0"/>
              </a:rPr>
              <a:t> </a:t>
            </a:r>
            <a:r>
              <a:rPr lang="ru-RU" dirty="0">
                <a:solidFill>
                  <a:srgbClr val="111111"/>
                </a:solidFill>
                <a:latin typeface="Arial" panose="020B0604020202020204" pitchFamily="34" charset="0"/>
              </a:rPr>
              <a:t>и </a:t>
            </a:r>
            <a:r>
              <a:rPr lang="en-US" dirty="0" err="1">
                <a:solidFill>
                  <a:srgbClr val="111111"/>
                </a:solidFill>
                <a:latin typeface="Arial" panose="020B0604020202020204" pitchFamily="34" charset="0"/>
              </a:rPr>
              <a:t>RangeLow</a:t>
            </a:r>
            <a:r>
              <a:rPr lang="en-US" dirty="0">
                <a:solidFill>
                  <a:srgbClr val="111111"/>
                </a:solidFill>
                <a:latin typeface="Arial" panose="020B0604020202020204" pitchFamily="34" charset="0"/>
              </a:rPr>
              <a:t> – </a:t>
            </a:r>
            <a:r>
              <a:rPr lang="ru-RU" dirty="0">
                <a:solidFill>
                  <a:srgbClr val="111111"/>
                </a:solidFill>
                <a:latin typeface="Arial" panose="020B0604020202020204" pitchFamily="34" charset="0"/>
              </a:rPr>
              <a:t>верхняя и нижняя границы кодируемого символа.</a:t>
            </a:r>
          </a:p>
        </p:txBody>
      </p:sp>
    </p:spTree>
    <p:extLst>
      <p:ext uri="{BB962C8B-B14F-4D97-AF65-F5344CB8AC3E}">
        <p14:creationId xmlns:p14="http://schemas.microsoft.com/office/powerpoint/2010/main" val="2203325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5849"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891660"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Арифметическое кодирование</a:t>
            </a:r>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783771" y="1023257"/>
            <a:ext cx="9627453" cy="369332"/>
          </a:xfrm>
          <a:prstGeom prst="rect">
            <a:avLst/>
          </a:prstGeom>
          <a:noFill/>
        </p:spPr>
        <p:txBody>
          <a:bodyPr wrap="square" rtlCol="0">
            <a:spAutoFit/>
          </a:bodyPr>
          <a:lstStyle/>
          <a:p>
            <a:r>
              <a:rPr lang="ru-RU">
                <a:solidFill>
                  <a:srgbClr val="111111"/>
                </a:solidFill>
                <a:latin typeface="Arial" panose="020B0604020202020204" pitchFamily="34" charset="0"/>
              </a:rPr>
              <a:t>«ЭТОТ_МЕТОД_ЛУЧШЕ_ХАФФМАНА» </a:t>
            </a:r>
            <a:endParaRPr lang="ru-RU" dirty="0">
              <a:solidFill>
                <a:srgbClr val="111111"/>
              </a:solidFill>
              <a:latin typeface="Arial" panose="020B0604020202020204" pitchFamily="34" charset="0"/>
            </a:endParaRPr>
          </a:p>
        </p:txBody>
      </p:sp>
      <p:pic>
        <p:nvPicPr>
          <p:cNvPr id="7" name="Рисунок 6"/>
          <p:cNvPicPr>
            <a:picLocks noChangeAspect="1"/>
          </p:cNvPicPr>
          <p:nvPr/>
        </p:nvPicPr>
        <p:blipFill>
          <a:blip r:embed="rId5"/>
          <a:stretch>
            <a:fillRect/>
          </a:stretch>
        </p:blipFill>
        <p:spPr>
          <a:xfrm>
            <a:off x="1300061" y="1665514"/>
            <a:ext cx="1464910" cy="4722494"/>
          </a:xfrm>
          <a:prstGeom prst="rect">
            <a:avLst/>
          </a:prstGeom>
        </p:spPr>
      </p:pic>
      <p:pic>
        <p:nvPicPr>
          <p:cNvPr id="8" name="Рисунок 7"/>
          <p:cNvPicPr>
            <a:picLocks noChangeAspect="1"/>
          </p:cNvPicPr>
          <p:nvPr/>
        </p:nvPicPr>
        <p:blipFill>
          <a:blip r:embed="rId6"/>
          <a:stretch>
            <a:fillRect/>
          </a:stretch>
        </p:blipFill>
        <p:spPr>
          <a:xfrm>
            <a:off x="2828158" y="2351314"/>
            <a:ext cx="8787230" cy="544286"/>
          </a:xfrm>
          <a:prstGeom prst="rect">
            <a:avLst/>
          </a:prstGeom>
        </p:spPr>
      </p:pic>
      <p:pic>
        <p:nvPicPr>
          <p:cNvPr id="4" name="Рисунок 3"/>
          <p:cNvPicPr>
            <a:picLocks noChangeAspect="1"/>
          </p:cNvPicPr>
          <p:nvPr/>
        </p:nvPicPr>
        <p:blipFill>
          <a:blip r:embed="rId7"/>
          <a:stretch>
            <a:fillRect/>
          </a:stretch>
        </p:blipFill>
        <p:spPr>
          <a:xfrm>
            <a:off x="5204684" y="3654496"/>
            <a:ext cx="3939316" cy="1467158"/>
          </a:xfrm>
          <a:prstGeom prst="rect">
            <a:avLst/>
          </a:prstGeom>
        </p:spPr>
      </p:pic>
      <p:sp>
        <p:nvSpPr>
          <p:cNvPr id="5" name="Прямоугольник 4"/>
          <p:cNvSpPr/>
          <p:nvPr/>
        </p:nvSpPr>
        <p:spPr>
          <a:xfrm>
            <a:off x="3690257" y="5691157"/>
            <a:ext cx="5453742" cy="646331"/>
          </a:xfrm>
          <a:prstGeom prst="rect">
            <a:avLst/>
          </a:prstGeom>
        </p:spPr>
        <p:txBody>
          <a:bodyPr wrap="square">
            <a:spAutoFit/>
          </a:bodyPr>
          <a:lstStyle/>
          <a:p>
            <a:r>
              <a:rPr lang="ru-RU" dirty="0"/>
              <a:t>Результатом кодирования будет любое число из полуинтервала [0,97218816; 0,97223424).</a:t>
            </a:r>
          </a:p>
        </p:txBody>
      </p:sp>
    </p:spTree>
    <p:extLst>
      <p:ext uri="{BB962C8B-B14F-4D97-AF65-F5344CB8AC3E}">
        <p14:creationId xmlns:p14="http://schemas.microsoft.com/office/powerpoint/2010/main" val="3337734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6873"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891660"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Арифметическое кодирование</a:t>
            </a:r>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947057" y="1186543"/>
            <a:ext cx="9627453" cy="5632311"/>
          </a:xfrm>
          <a:prstGeom prst="rect">
            <a:avLst/>
          </a:prstGeom>
          <a:noFill/>
        </p:spPr>
        <p:txBody>
          <a:bodyPr wrap="square" rtlCol="0">
            <a:spAutoFit/>
          </a:bodyPr>
          <a:lstStyle/>
          <a:p>
            <a:r>
              <a:rPr lang="ru-RU" dirty="0">
                <a:solidFill>
                  <a:srgbClr val="111111"/>
                </a:solidFill>
                <a:latin typeface="Arial" panose="020B0604020202020204" pitchFamily="34" charset="0"/>
              </a:rPr>
              <a:t>Рассмотрим процесс декодирования</a:t>
            </a:r>
            <a:r>
              <a:rPr lang="ru-RU" dirty="0" smtClean="0">
                <a:solidFill>
                  <a:srgbClr val="111111"/>
                </a:solidFill>
                <a:latin typeface="Arial" panose="020B0604020202020204" pitchFamily="34" charset="0"/>
              </a:rPr>
              <a:t>.</a:t>
            </a:r>
          </a:p>
          <a:p>
            <a:endParaRPr lang="ru-RU" dirty="0">
              <a:solidFill>
                <a:srgbClr val="111111"/>
              </a:solidFill>
              <a:latin typeface="Arial" panose="020B0604020202020204" pitchFamily="34" charset="0"/>
            </a:endParaRPr>
          </a:p>
          <a:p>
            <a:r>
              <a:rPr lang="ru-RU" dirty="0" smtClean="0">
                <a:solidFill>
                  <a:srgbClr val="111111"/>
                </a:solidFill>
                <a:latin typeface="Arial" panose="020B0604020202020204" pitchFamily="34" charset="0"/>
              </a:rPr>
              <a:t> </a:t>
            </a:r>
            <a:r>
              <a:rPr lang="ru-RU" dirty="0">
                <a:solidFill>
                  <a:srgbClr val="111111"/>
                </a:solidFill>
                <a:latin typeface="Arial" panose="020B0604020202020204" pitchFamily="34" charset="0"/>
              </a:rPr>
              <a:t>Код лежит в полуинтервале [0,96;1). Т.е. первый символ сообщения «Э». </a:t>
            </a:r>
            <a:endParaRPr lang="ru-RU" dirty="0" smtClean="0">
              <a:solidFill>
                <a:srgbClr val="111111"/>
              </a:solidFill>
              <a:latin typeface="Arial" panose="020B0604020202020204" pitchFamily="34" charset="0"/>
            </a:endParaRPr>
          </a:p>
          <a:p>
            <a:r>
              <a:rPr lang="ru-RU" dirty="0" smtClean="0">
                <a:solidFill>
                  <a:srgbClr val="111111"/>
                </a:solidFill>
                <a:latin typeface="Arial" panose="020B0604020202020204" pitchFamily="34" charset="0"/>
              </a:rPr>
              <a:t>Чтобы </a:t>
            </a:r>
            <a:r>
              <a:rPr lang="ru-RU" dirty="0">
                <a:solidFill>
                  <a:srgbClr val="111111"/>
                </a:solidFill>
                <a:latin typeface="Arial" panose="020B0604020202020204" pitchFamily="34" charset="0"/>
              </a:rPr>
              <a:t>декодировать второй символ (который кодировался в полуинтервале [0,96;1)) полуинтервал нужно нормализовать, т.е. привести к виду [0;1). </a:t>
            </a:r>
            <a:endParaRPr lang="ru-RU" dirty="0" smtClean="0">
              <a:solidFill>
                <a:srgbClr val="111111"/>
              </a:solidFill>
              <a:latin typeface="Arial" panose="020B0604020202020204" pitchFamily="34" charset="0"/>
            </a:endParaRPr>
          </a:p>
          <a:p>
            <a:endParaRPr lang="ru-RU" dirty="0">
              <a:solidFill>
                <a:srgbClr val="111111"/>
              </a:solidFill>
              <a:latin typeface="Arial" panose="020B0604020202020204" pitchFamily="34" charset="0"/>
            </a:endParaRPr>
          </a:p>
          <a:p>
            <a:r>
              <a:rPr lang="ru-RU" dirty="0" smtClean="0">
                <a:solidFill>
                  <a:srgbClr val="111111"/>
                </a:solidFill>
                <a:latin typeface="Arial" panose="020B0604020202020204" pitchFamily="34" charset="0"/>
              </a:rPr>
              <a:t>Это </a:t>
            </a:r>
            <a:r>
              <a:rPr lang="ru-RU" dirty="0">
                <a:solidFill>
                  <a:srgbClr val="111111"/>
                </a:solidFill>
                <a:latin typeface="Arial" panose="020B0604020202020204" pitchFamily="34" charset="0"/>
              </a:rPr>
              <a:t>делается с помощью следующей формулы: </a:t>
            </a:r>
            <a:endParaRPr lang="ru-RU" dirty="0" smtClean="0">
              <a:solidFill>
                <a:srgbClr val="111111"/>
              </a:solidFill>
              <a:latin typeface="Arial" panose="020B0604020202020204" pitchFamily="34" charset="0"/>
            </a:endParaRPr>
          </a:p>
          <a:p>
            <a:endParaRPr lang="ru-RU" dirty="0" smtClean="0">
              <a:solidFill>
                <a:srgbClr val="111111"/>
              </a:solidFill>
              <a:latin typeface="Arial" panose="020B0604020202020204" pitchFamily="34" charset="0"/>
            </a:endParaRPr>
          </a:p>
          <a:p>
            <a:r>
              <a:rPr lang="ru-RU" dirty="0" err="1" smtClean="0">
                <a:solidFill>
                  <a:srgbClr val="111111"/>
                </a:solidFill>
                <a:latin typeface="Arial" panose="020B0604020202020204" pitchFamily="34" charset="0"/>
              </a:rPr>
              <a:t>code</a:t>
            </a:r>
            <a:r>
              <a:rPr lang="ru-RU" dirty="0">
                <a:solidFill>
                  <a:srgbClr val="111111"/>
                </a:solidFill>
                <a:latin typeface="Arial" panose="020B0604020202020204" pitchFamily="34" charset="0"/>
              </a:rPr>
              <a:t>=(</a:t>
            </a:r>
            <a:r>
              <a:rPr lang="ru-RU" dirty="0" err="1">
                <a:solidFill>
                  <a:srgbClr val="111111"/>
                </a:solidFill>
                <a:latin typeface="Arial" panose="020B0604020202020204" pitchFamily="34" charset="0"/>
              </a:rPr>
              <a:t>code-RangeLow</a:t>
            </a:r>
            <a:r>
              <a:rPr lang="ru-RU" dirty="0">
                <a:solidFill>
                  <a:srgbClr val="111111"/>
                </a:solidFill>
                <a:latin typeface="Arial" panose="020B0604020202020204" pitchFamily="34" charset="0"/>
              </a:rPr>
              <a:t>(x))/(</a:t>
            </a:r>
            <a:r>
              <a:rPr lang="ru-RU" dirty="0" err="1">
                <a:solidFill>
                  <a:srgbClr val="111111"/>
                </a:solidFill>
                <a:latin typeface="Arial" panose="020B0604020202020204" pitchFamily="34" charset="0"/>
              </a:rPr>
              <a:t>RangeHigh</a:t>
            </a:r>
            <a:r>
              <a:rPr lang="ru-RU" dirty="0">
                <a:solidFill>
                  <a:srgbClr val="111111"/>
                </a:solidFill>
                <a:latin typeface="Arial" panose="020B0604020202020204" pitchFamily="34" charset="0"/>
              </a:rPr>
              <a:t>(x)-</a:t>
            </a:r>
            <a:r>
              <a:rPr lang="ru-RU" dirty="0" err="1">
                <a:solidFill>
                  <a:srgbClr val="111111"/>
                </a:solidFill>
                <a:latin typeface="Arial" panose="020B0604020202020204" pitchFamily="34" charset="0"/>
              </a:rPr>
              <a:t>RangeLow</a:t>
            </a:r>
            <a:r>
              <a:rPr lang="ru-RU" dirty="0">
                <a:solidFill>
                  <a:srgbClr val="111111"/>
                </a:solidFill>
                <a:latin typeface="Arial" panose="020B0604020202020204" pitchFamily="34" charset="0"/>
              </a:rPr>
              <a:t>(x)), </a:t>
            </a:r>
            <a:endParaRPr lang="ru-RU" dirty="0" smtClean="0">
              <a:solidFill>
                <a:srgbClr val="111111"/>
              </a:solidFill>
              <a:latin typeface="Arial" panose="020B0604020202020204" pitchFamily="34" charset="0"/>
            </a:endParaRPr>
          </a:p>
          <a:p>
            <a:r>
              <a:rPr lang="ru-RU" dirty="0">
                <a:solidFill>
                  <a:srgbClr val="111111"/>
                </a:solidFill>
                <a:latin typeface="Arial" panose="020B0604020202020204" pitchFamily="34" charset="0"/>
              </a:rPr>
              <a:t>	</a:t>
            </a:r>
            <a:r>
              <a:rPr lang="ru-RU" dirty="0" smtClean="0">
                <a:solidFill>
                  <a:srgbClr val="111111"/>
                </a:solidFill>
                <a:latin typeface="Arial" panose="020B0604020202020204" pitchFamily="34" charset="0"/>
              </a:rPr>
              <a:t>где </a:t>
            </a:r>
            <a:r>
              <a:rPr lang="ru-RU" dirty="0" err="1">
                <a:solidFill>
                  <a:srgbClr val="111111"/>
                </a:solidFill>
                <a:latin typeface="Arial" panose="020B0604020202020204" pitchFamily="34" charset="0"/>
              </a:rPr>
              <a:t>code</a:t>
            </a:r>
            <a:r>
              <a:rPr lang="ru-RU" dirty="0">
                <a:solidFill>
                  <a:srgbClr val="111111"/>
                </a:solidFill>
                <a:latin typeface="Arial" panose="020B0604020202020204" pitchFamily="34" charset="0"/>
              </a:rPr>
              <a:t> – текущее значение кода</a:t>
            </a:r>
            <a:r>
              <a:rPr lang="ru-RU" dirty="0" smtClean="0">
                <a:solidFill>
                  <a:srgbClr val="111111"/>
                </a:solidFill>
                <a:latin typeface="Arial" panose="020B0604020202020204" pitchFamily="34" charset="0"/>
              </a:rPr>
              <a:t>.</a:t>
            </a:r>
          </a:p>
          <a:p>
            <a:endParaRPr lang="ru-RU" dirty="0">
              <a:solidFill>
                <a:srgbClr val="111111"/>
              </a:solidFill>
              <a:latin typeface="Arial" panose="020B0604020202020204" pitchFamily="34" charset="0"/>
            </a:endParaRPr>
          </a:p>
          <a:p>
            <a:r>
              <a:rPr lang="ru-RU" dirty="0">
                <a:solidFill>
                  <a:srgbClr val="111111"/>
                </a:solidFill>
                <a:latin typeface="Arial" panose="020B0604020202020204" pitchFamily="34" charset="0"/>
              </a:rPr>
              <a:t>Применяя эту формулу, получаем новое значение </a:t>
            </a:r>
            <a:endParaRPr lang="ru-RU" dirty="0" smtClean="0">
              <a:solidFill>
                <a:srgbClr val="111111"/>
              </a:solidFill>
              <a:latin typeface="Arial" panose="020B0604020202020204" pitchFamily="34" charset="0"/>
            </a:endParaRPr>
          </a:p>
          <a:p>
            <a:r>
              <a:rPr lang="ru-RU" dirty="0" err="1" smtClean="0">
                <a:solidFill>
                  <a:srgbClr val="111111"/>
                </a:solidFill>
                <a:latin typeface="Arial" panose="020B0604020202020204" pitchFamily="34" charset="0"/>
              </a:rPr>
              <a:t>code</a:t>
            </a:r>
            <a:r>
              <a:rPr lang="ru-RU" dirty="0">
                <a:solidFill>
                  <a:srgbClr val="111111"/>
                </a:solidFill>
                <a:latin typeface="Arial" panose="020B0604020202020204" pitchFamily="34" charset="0"/>
              </a:rPr>
              <a:t>=(0,97218816-0,96)/(1-0,96)= 0,304704</a:t>
            </a:r>
            <a:r>
              <a:rPr lang="ru-RU" dirty="0" smtClean="0">
                <a:solidFill>
                  <a:srgbClr val="111111"/>
                </a:solidFill>
                <a:latin typeface="Arial" panose="020B0604020202020204" pitchFamily="34" charset="0"/>
              </a:rPr>
              <a:t>.</a:t>
            </a:r>
          </a:p>
          <a:p>
            <a:r>
              <a:rPr lang="ru-RU" dirty="0" smtClean="0">
                <a:solidFill>
                  <a:srgbClr val="111111"/>
                </a:solidFill>
                <a:latin typeface="Arial" panose="020B0604020202020204" pitchFamily="34" charset="0"/>
              </a:rPr>
              <a:t> Т.е</a:t>
            </a:r>
            <a:r>
              <a:rPr lang="ru-RU" dirty="0">
                <a:solidFill>
                  <a:srgbClr val="111111"/>
                </a:solidFill>
                <a:latin typeface="Arial" panose="020B0604020202020204" pitchFamily="34" charset="0"/>
              </a:rPr>
              <a:t>. второй символ последовательности «Т</a:t>
            </a:r>
            <a:r>
              <a:rPr lang="ru-RU" dirty="0" smtClean="0">
                <a:solidFill>
                  <a:srgbClr val="111111"/>
                </a:solidFill>
                <a:latin typeface="Arial" panose="020B0604020202020204" pitchFamily="34" charset="0"/>
              </a:rPr>
              <a:t>».</a:t>
            </a:r>
          </a:p>
          <a:p>
            <a:endParaRPr lang="ru-RU" dirty="0">
              <a:solidFill>
                <a:srgbClr val="111111"/>
              </a:solidFill>
              <a:latin typeface="Arial" panose="020B0604020202020204" pitchFamily="34" charset="0"/>
            </a:endParaRPr>
          </a:p>
          <a:p>
            <a:r>
              <a:rPr lang="ru-RU" dirty="0">
                <a:solidFill>
                  <a:srgbClr val="111111"/>
                </a:solidFill>
                <a:latin typeface="Arial" panose="020B0604020202020204" pitchFamily="34" charset="0"/>
              </a:rPr>
              <a:t>Снова применим формулу: </a:t>
            </a:r>
            <a:r>
              <a:rPr lang="ru-RU" dirty="0" err="1">
                <a:solidFill>
                  <a:srgbClr val="111111"/>
                </a:solidFill>
                <a:latin typeface="Arial" panose="020B0604020202020204" pitchFamily="34" charset="0"/>
              </a:rPr>
              <a:t>code</a:t>
            </a:r>
            <a:r>
              <a:rPr lang="ru-RU" dirty="0">
                <a:solidFill>
                  <a:srgbClr val="111111"/>
                </a:solidFill>
                <a:latin typeface="Arial" panose="020B0604020202020204" pitchFamily="34" charset="0"/>
              </a:rPr>
              <a:t>=(0,304704-0,24)/(0,36-0,24)= 0,5392. </a:t>
            </a:r>
            <a:endParaRPr lang="ru-RU" dirty="0" smtClean="0">
              <a:solidFill>
                <a:srgbClr val="111111"/>
              </a:solidFill>
              <a:latin typeface="Arial" panose="020B0604020202020204" pitchFamily="34" charset="0"/>
            </a:endParaRPr>
          </a:p>
          <a:p>
            <a:endParaRPr lang="ru-RU" dirty="0" smtClean="0">
              <a:solidFill>
                <a:srgbClr val="111111"/>
              </a:solidFill>
              <a:latin typeface="Arial" panose="020B0604020202020204" pitchFamily="34" charset="0"/>
            </a:endParaRPr>
          </a:p>
          <a:p>
            <a:r>
              <a:rPr lang="ru-RU" dirty="0" smtClean="0">
                <a:solidFill>
                  <a:srgbClr val="111111"/>
                </a:solidFill>
                <a:latin typeface="Arial" panose="020B0604020202020204" pitchFamily="34" charset="0"/>
              </a:rPr>
              <a:t>Третий </a:t>
            </a:r>
            <a:r>
              <a:rPr lang="ru-RU" dirty="0">
                <a:solidFill>
                  <a:srgbClr val="111111"/>
                </a:solidFill>
                <a:latin typeface="Arial" panose="020B0604020202020204" pitchFamily="34" charset="0"/>
              </a:rPr>
              <a:t>символ последовательности – «О».</a:t>
            </a:r>
          </a:p>
          <a:p>
            <a:r>
              <a:rPr lang="ru-RU" dirty="0">
                <a:solidFill>
                  <a:srgbClr val="111111"/>
                </a:solidFill>
                <a:latin typeface="Arial" panose="020B0604020202020204" pitchFamily="34" charset="0"/>
              </a:rPr>
              <a:t>Продолжая декодирование, по описанной схеме мы можем полностью восстановить исходный текст.</a:t>
            </a:r>
          </a:p>
        </p:txBody>
      </p:sp>
    </p:spTree>
    <p:extLst>
      <p:ext uri="{BB962C8B-B14F-4D97-AF65-F5344CB8AC3E}">
        <p14:creationId xmlns:p14="http://schemas.microsoft.com/office/powerpoint/2010/main" val="3700431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7894"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219792" cy="830997"/>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Словарные методы</a:t>
            </a:r>
          </a:p>
          <a:p>
            <a:endParaRPr lang="ru-RU" sz="2400" b="1" dirty="0">
              <a:solidFill>
                <a:srgbClr val="0133A3"/>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0892B1-7CAD-4BA8-A9F2-21C8F5F37F87}"/>
              </a:ext>
            </a:extLst>
          </p:cNvPr>
          <p:cNvSpPr txBox="1"/>
          <p:nvPr/>
        </p:nvSpPr>
        <p:spPr>
          <a:xfrm>
            <a:off x="947057" y="1186543"/>
            <a:ext cx="9627453" cy="3970318"/>
          </a:xfrm>
          <a:prstGeom prst="rect">
            <a:avLst/>
          </a:prstGeom>
          <a:noFill/>
        </p:spPr>
        <p:txBody>
          <a:bodyPr wrap="square" rtlCol="0">
            <a:spAutoFit/>
          </a:bodyPr>
          <a:lstStyle/>
          <a:p>
            <a:r>
              <a:rPr lang="ru-RU" dirty="0">
                <a:solidFill>
                  <a:srgbClr val="111111"/>
                </a:solidFill>
                <a:latin typeface="Arial" panose="020B0604020202020204" pitchFamily="34" charset="0"/>
              </a:rPr>
              <a:t>Более тридцати лет алгоритм сжатия Хаффмана и его варианты оставались наиболее популярными методами. </a:t>
            </a:r>
            <a:endParaRPr lang="ru-RU" dirty="0" smtClean="0">
              <a:solidFill>
                <a:srgbClr val="111111"/>
              </a:solidFill>
              <a:latin typeface="Arial" panose="020B0604020202020204" pitchFamily="34" charset="0"/>
            </a:endParaRPr>
          </a:p>
          <a:p>
            <a:r>
              <a:rPr lang="ru-RU" dirty="0" smtClean="0">
                <a:solidFill>
                  <a:srgbClr val="111111"/>
                </a:solidFill>
                <a:latin typeface="Arial" panose="020B0604020202020204" pitchFamily="34" charset="0"/>
              </a:rPr>
              <a:t>Однако </a:t>
            </a:r>
            <a:r>
              <a:rPr lang="ru-RU" dirty="0">
                <a:solidFill>
                  <a:srgbClr val="111111"/>
                </a:solidFill>
                <a:latin typeface="Arial" panose="020B0604020202020204" pitchFamily="34" charset="0"/>
              </a:rPr>
              <a:t>в 1977 два исследователя из Израиля предложили совершенно другой подход к этой проблеме. Абрахам Лемпел и Якоб Зив выдвинули идею формирования "словаря" общих последовательностей данных. При этом сжатие данных осуществляется за счет замены записей соответствующими кодами из словаря. Существуют два алгоритма, в настоящее время известные как LZ77 и LZ78. Они уже не требуют включения словаря данных в архив, так как если вы формируете ваш словарь определенным способом, программа декодирования может его восстанавливать непосредственно из ваших данных. К сожалению, LZ77 и LZ78 тратят много времени на создание эффективного словаря. Лемпел был приглашен фирмой </a:t>
            </a:r>
            <a:r>
              <a:rPr lang="ru-RU" dirty="0" err="1">
                <a:solidFill>
                  <a:srgbClr val="111111"/>
                </a:solidFill>
                <a:latin typeface="Arial" panose="020B0604020202020204" pitchFamily="34" charset="0"/>
              </a:rPr>
              <a:t>Sperry</a:t>
            </a:r>
            <a:r>
              <a:rPr lang="ru-RU" dirty="0">
                <a:solidFill>
                  <a:srgbClr val="111111"/>
                </a:solidFill>
                <a:latin typeface="Arial" panose="020B0604020202020204" pitchFamily="34" charset="0"/>
              </a:rPr>
              <a:t> для оказания им помощи в разработке способа наиболее эффективной упаковки данных на компьютерных лентах. В этой же фирме Терри </a:t>
            </a:r>
            <a:r>
              <a:rPr lang="ru-RU" dirty="0" err="1">
                <a:solidFill>
                  <a:srgbClr val="111111"/>
                </a:solidFill>
                <a:latin typeface="Arial" panose="020B0604020202020204" pitchFamily="34" charset="0"/>
              </a:rPr>
              <a:t>Велч</a:t>
            </a:r>
            <a:r>
              <a:rPr lang="ru-RU" dirty="0">
                <a:solidFill>
                  <a:srgbClr val="111111"/>
                </a:solidFill>
                <a:latin typeface="Arial" panose="020B0604020202020204" pitchFamily="34" charset="0"/>
              </a:rPr>
              <a:t> (</a:t>
            </a:r>
            <a:r>
              <a:rPr lang="ru-RU" dirty="0" err="1">
                <a:solidFill>
                  <a:srgbClr val="111111"/>
                </a:solidFill>
                <a:latin typeface="Arial" panose="020B0604020202020204" pitchFamily="34" charset="0"/>
              </a:rPr>
              <a:t>Terry</a:t>
            </a:r>
            <a:r>
              <a:rPr lang="ru-RU" dirty="0">
                <a:solidFill>
                  <a:srgbClr val="111111"/>
                </a:solidFill>
                <a:latin typeface="Arial" panose="020B0604020202020204" pitchFamily="34" charset="0"/>
              </a:rPr>
              <a:t> </a:t>
            </a:r>
            <a:r>
              <a:rPr lang="ru-RU" dirty="0" err="1">
                <a:solidFill>
                  <a:srgbClr val="111111"/>
                </a:solidFill>
                <a:latin typeface="Arial" panose="020B0604020202020204" pitchFamily="34" charset="0"/>
              </a:rPr>
              <a:t>Welch</a:t>
            </a:r>
            <a:r>
              <a:rPr lang="ru-RU" dirty="0">
                <a:solidFill>
                  <a:srgbClr val="111111"/>
                </a:solidFill>
                <a:latin typeface="Arial" panose="020B0604020202020204" pitchFamily="34" charset="0"/>
              </a:rPr>
              <a:t>) расширил алгоритм LZ78, создав новый вариант, широко известный, как LZW.</a:t>
            </a:r>
          </a:p>
        </p:txBody>
      </p:sp>
    </p:spTree>
    <p:extLst>
      <p:ext uri="{BB962C8B-B14F-4D97-AF65-F5344CB8AC3E}">
        <p14:creationId xmlns:p14="http://schemas.microsoft.com/office/powerpoint/2010/main" val="3721309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7429"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3101875"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9261434" cy="369332"/>
          </a:xfrm>
          <a:prstGeom prst="rect">
            <a:avLst/>
          </a:prstGeom>
          <a:noFill/>
        </p:spPr>
        <p:txBody>
          <a:bodyPr wrap="square" rtlCol="0">
            <a:spAutoFit/>
          </a:bodyPr>
          <a:lstStyle/>
          <a:p>
            <a:pPr rtl="0">
              <a:spcBef>
                <a:spcPts val="0"/>
              </a:spcBef>
              <a:spcAft>
                <a:spcPts val="0"/>
              </a:spcAft>
            </a:pPr>
            <a:r>
              <a:rPr lang="ru-RU" sz="1800" b="1" i="0" u="none" strike="noStrike" dirty="0">
                <a:solidFill>
                  <a:srgbClr val="E90479"/>
                </a:solidFill>
                <a:effectLst/>
                <a:latin typeface="Arial" panose="020B0604020202020204" pitchFamily="34" charset="0"/>
              </a:rPr>
              <a:t>2. Семейство алгоритмов </a:t>
            </a:r>
            <a:r>
              <a:rPr lang="en-AU" sz="1800" b="1" i="0" u="none" strike="noStrike" dirty="0">
                <a:solidFill>
                  <a:srgbClr val="E90479"/>
                </a:solidFill>
                <a:effectLst/>
                <a:latin typeface="Arial" panose="020B0604020202020204" pitchFamily="34" charset="0"/>
              </a:rPr>
              <a:t>LZ</a:t>
            </a:r>
            <a:endParaRPr lang="ru-RU" dirty="0"/>
          </a:p>
        </p:txBody>
      </p:sp>
      <p:pic>
        <p:nvPicPr>
          <p:cNvPr id="17412" name="Picture 4">
            <a:extLst>
              <a:ext uri="{FF2B5EF4-FFF2-40B4-BE49-F238E27FC236}">
                <a16:creationId xmlns:a16="http://schemas.microsoft.com/office/drawing/2014/main" id="{01CD3CF8-4903-4B51-9A64-1DE579E7F65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53" t="14047" r="1065" b="2109"/>
          <a:stretch/>
        </p:blipFill>
        <p:spPr bwMode="auto">
          <a:xfrm>
            <a:off x="1374955" y="1680882"/>
            <a:ext cx="9442090" cy="4540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433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3569"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8970597"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 – группа </a:t>
            </a:r>
            <a:r>
              <a:rPr lang="en-AU" sz="2400" b="1" dirty="0">
                <a:solidFill>
                  <a:srgbClr val="0133A3"/>
                </a:solidFill>
                <a:latin typeface="Arial" panose="020B0604020202020204" pitchFamily="34" charset="0"/>
                <a:cs typeface="Arial" panose="020B0604020202020204" pitchFamily="34" charset="0"/>
              </a:rPr>
              <a:t>LZ </a:t>
            </a:r>
            <a:r>
              <a:rPr lang="ru-RU" sz="2400" b="1" dirty="0">
                <a:solidFill>
                  <a:srgbClr val="0133A3"/>
                </a:solidFill>
                <a:latin typeface="Arial" panose="020B0604020202020204" pitchFamily="34" charset="0"/>
                <a:cs typeface="Arial" panose="020B0604020202020204" pitchFamily="34" charset="0"/>
              </a:rPr>
              <a:t>(метод скользящего окна)</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6047809"/>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LZ77</a:t>
            </a:r>
            <a:r>
              <a:rPr lang="ru-RU" sz="1800" b="1" i="0" u="none" strike="noStrike" dirty="0">
                <a:solidFill>
                  <a:srgbClr val="E90479"/>
                </a:solidFill>
                <a:effectLst/>
                <a:latin typeface="Arial" panose="020B0604020202020204" pitchFamily="34" charset="0"/>
              </a:rPr>
              <a:t/>
            </a:r>
            <a:br>
              <a:rPr lang="ru-RU" sz="1800" b="1" i="0" u="none" strike="noStrike" dirty="0">
                <a:solidFill>
                  <a:srgbClr val="E90479"/>
                </a:solidFill>
                <a:effectLst/>
                <a:latin typeface="Arial" panose="020B0604020202020204" pitchFamily="34" charset="0"/>
              </a:rPr>
            </a:b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Алгоритм LZ77 разработан </a:t>
            </a:r>
            <a:r>
              <a:rPr lang="ru-RU" sz="1800" b="0" i="0" u="none" strike="noStrike" dirty="0" err="1">
                <a:solidFill>
                  <a:srgbClr val="111111"/>
                </a:solidFill>
                <a:effectLst/>
                <a:latin typeface="Arial" panose="020B0604020202020204" pitchFamily="34" charset="0"/>
              </a:rPr>
              <a:t>Абрахом</a:t>
            </a:r>
            <a:r>
              <a:rPr lang="ru-RU" sz="1800" b="0" i="0" u="none" strike="noStrike" dirty="0">
                <a:solidFill>
                  <a:srgbClr val="111111"/>
                </a:solidFill>
                <a:effectLst/>
                <a:latin typeface="Arial" panose="020B0604020202020204" pitchFamily="34" charset="0"/>
              </a:rPr>
              <a:t> Лемпелем и Якобом Зивом в 1977 году. </a:t>
            </a:r>
            <a:endParaRPr lang="en-AU" sz="1800" b="0" i="0" u="none" strike="noStrike" dirty="0">
              <a:solidFill>
                <a:srgbClr val="111111"/>
              </a:solidFill>
              <a:effectLst/>
              <a:latin typeface="Arial" panose="020B0604020202020204" pitchFamily="34" charset="0"/>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Его модификация 1978 года называется LZ78. Основная идея LZ77 состоит в том, что второе и последующие вхождения некоторой строки символов в сообщении заменяются ссылками на ее первое вхождение.</a:t>
            </a:r>
            <a:br>
              <a:rPr lang="ru-RU" sz="1800" b="0" i="0" u="none" strike="noStrike" dirty="0">
                <a:solidFill>
                  <a:srgbClr val="111111"/>
                </a:solidFill>
                <a:effectLst/>
                <a:latin typeface="Arial" panose="020B0604020202020204" pitchFamily="34" charset="0"/>
              </a:rPr>
            </a:br>
            <a:r>
              <a:rPr lang="ru-RU" sz="1800" b="0" i="0" u="none" strike="noStrike" dirty="0">
                <a:solidFill>
                  <a:srgbClr val="111111"/>
                </a:solidFill>
                <a:effectLst/>
                <a:latin typeface="Arial" panose="020B0604020202020204" pitchFamily="34" charset="0"/>
              </a:rPr>
              <a:t/>
            </a:r>
            <a:br>
              <a:rPr lang="ru-RU" sz="1800" b="0" i="0" u="none" strike="noStrike" dirty="0">
                <a:solidFill>
                  <a:srgbClr val="111111"/>
                </a:solidFill>
                <a:effectLst/>
                <a:latin typeface="Arial" panose="020B0604020202020204" pitchFamily="34" charset="0"/>
              </a:rPr>
            </a:br>
            <a:r>
              <a:rPr lang="ru-RU" sz="1800" b="0" i="0" u="none" strike="noStrike" dirty="0">
                <a:solidFill>
                  <a:srgbClr val="111111"/>
                </a:solidFill>
                <a:effectLst/>
                <a:latin typeface="Arial" panose="020B0604020202020204" pitchFamily="34" charset="0"/>
              </a:rPr>
              <a:t>LZ77 использует словарь, содержащий тройки данных – с</a:t>
            </a:r>
            <a:r>
              <a:rPr lang="ru-RU" sz="1800" b="1" i="0" u="none" strike="noStrike" dirty="0">
                <a:solidFill>
                  <a:srgbClr val="111111"/>
                </a:solidFill>
                <a:effectLst/>
                <a:latin typeface="Arial" panose="020B0604020202020204" pitchFamily="34" charset="0"/>
              </a:rPr>
              <a:t>мещение, длина серии и символ расхождения. </a:t>
            </a:r>
            <a:endParaRPr lang="ru-RU" b="0" dirty="0">
              <a:effectLst/>
            </a:endParaRPr>
          </a:p>
          <a:p>
            <a:pPr rtl="0">
              <a:lnSpc>
                <a:spcPct val="150000"/>
              </a:lnSpc>
              <a:spcBef>
                <a:spcPts val="0"/>
              </a:spcBef>
              <a:spcAft>
                <a:spcPts val="0"/>
              </a:spcAft>
            </a:pPr>
            <a:r>
              <a:rPr lang="ru-RU" sz="1800" b="1" i="0" u="none" strike="noStrike" dirty="0">
                <a:solidFill>
                  <a:srgbClr val="111111"/>
                </a:solidFill>
                <a:effectLst/>
                <a:latin typeface="Arial" panose="020B0604020202020204" pitchFamily="34" charset="0"/>
              </a:rPr>
              <a:t>Смещение</a:t>
            </a:r>
            <a:r>
              <a:rPr lang="ru-RU" sz="1800" b="0" i="0" u="none" strike="noStrike" dirty="0">
                <a:solidFill>
                  <a:srgbClr val="111111"/>
                </a:solidFill>
                <a:effectLst/>
                <a:latin typeface="Arial" panose="020B0604020202020204" pitchFamily="34" charset="0"/>
              </a:rPr>
              <a:t> – как далеко от начала файла находится фраза. </a:t>
            </a:r>
            <a:endParaRPr lang="ru-RU" b="0" dirty="0">
              <a:effectLst/>
            </a:endParaRPr>
          </a:p>
          <a:p>
            <a:pPr rtl="0">
              <a:lnSpc>
                <a:spcPct val="150000"/>
              </a:lnSpc>
              <a:spcBef>
                <a:spcPts val="0"/>
              </a:spcBef>
              <a:spcAft>
                <a:spcPts val="0"/>
              </a:spcAft>
            </a:pPr>
            <a:r>
              <a:rPr lang="ru-RU" sz="1800" b="1" i="0" u="none" strike="noStrike" dirty="0">
                <a:solidFill>
                  <a:srgbClr val="111111"/>
                </a:solidFill>
                <a:effectLst/>
                <a:latin typeface="Arial" panose="020B0604020202020204" pitchFamily="34" charset="0"/>
              </a:rPr>
              <a:t>Длина серии </a:t>
            </a:r>
            <a:r>
              <a:rPr lang="ru-RU" sz="1800" b="0" i="0" u="none" strike="noStrike" dirty="0">
                <a:solidFill>
                  <a:srgbClr val="111111"/>
                </a:solidFill>
                <a:effectLst/>
                <a:latin typeface="Arial" panose="020B0604020202020204" pitchFamily="34" charset="0"/>
              </a:rPr>
              <a:t>– сколько символов, считая от смещения, принадлежат фразе. </a:t>
            </a:r>
            <a:r>
              <a:rPr lang="ru-RU" sz="1800" b="1" i="0" u="none" strike="noStrike" dirty="0">
                <a:solidFill>
                  <a:srgbClr val="111111"/>
                </a:solidFill>
                <a:effectLst/>
                <a:latin typeface="Arial" panose="020B0604020202020204" pitchFamily="34" charset="0"/>
              </a:rPr>
              <a:t>Символ расхождения</a:t>
            </a:r>
            <a:r>
              <a:rPr lang="ru-RU" sz="1800" b="0" i="0" u="none" strike="noStrike" dirty="0">
                <a:solidFill>
                  <a:srgbClr val="111111"/>
                </a:solidFill>
                <a:effectLst/>
                <a:latin typeface="Arial" panose="020B0604020202020204" pitchFamily="34" charset="0"/>
              </a:rPr>
              <a:t> показывает, что найдена новая фраза, похожая на ту, что обозначена смещением и длиной, за исключением этого символа.</a:t>
            </a:r>
            <a:endParaRPr lang="ru-RU" b="0" dirty="0">
              <a:effectLst/>
            </a:endParaRPr>
          </a:p>
          <a:p>
            <a:pPr rtl="0">
              <a:spcBef>
                <a:spcPts val="0"/>
              </a:spcBef>
              <a:spcAft>
                <a:spcPts val="0"/>
              </a:spcAft>
            </a:pPr>
            <a:r>
              <a:rPr lang="ru-RU" b="0" dirty="0">
                <a:effectLst/>
              </a:rPr>
              <a:t/>
            </a:r>
            <a:br>
              <a:rPr lang="ru-RU" b="0" dirty="0">
                <a:effectLst/>
              </a:rPr>
            </a:br>
            <a:endParaRPr lang="ru-RU" b="0" dirty="0">
              <a:effectLst/>
            </a:endParaRPr>
          </a:p>
        </p:txBody>
      </p:sp>
    </p:spTree>
    <p:extLst>
      <p:ext uri="{BB962C8B-B14F-4D97-AF65-F5344CB8AC3E}">
        <p14:creationId xmlns:p14="http://schemas.microsoft.com/office/powerpoint/2010/main" val="533538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4593"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8970597"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 – группа </a:t>
            </a:r>
            <a:r>
              <a:rPr lang="en-AU" sz="2400" b="1" dirty="0">
                <a:solidFill>
                  <a:srgbClr val="0133A3"/>
                </a:solidFill>
                <a:latin typeface="Arial" panose="020B0604020202020204" pitchFamily="34" charset="0"/>
                <a:cs typeface="Arial" panose="020B0604020202020204" pitchFamily="34" charset="0"/>
              </a:rPr>
              <a:t>LZ </a:t>
            </a:r>
            <a:r>
              <a:rPr lang="ru-RU" sz="2400" b="1" dirty="0">
                <a:solidFill>
                  <a:srgbClr val="0133A3"/>
                </a:solidFill>
                <a:latin typeface="Arial" panose="020B0604020202020204" pitchFamily="34" charset="0"/>
                <a:cs typeface="Arial" panose="020B0604020202020204" pitchFamily="34" charset="0"/>
              </a:rPr>
              <a:t>(метод скользящего окна)</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2126864"/>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LZR</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Модификация алгоритма LZ77, предложенная Майклом Роуде в 1981 году. В отличие от LZ77 работает за линейное время, однако требует большего объёма памяти. Обычно </a:t>
            </a:r>
            <a:r>
              <a:rPr lang="ru-RU" sz="1800" b="1" i="0" u="none" strike="noStrike" dirty="0">
                <a:solidFill>
                  <a:srgbClr val="111111"/>
                </a:solidFill>
                <a:effectLst/>
                <a:latin typeface="Arial" panose="020B0604020202020204" pitchFamily="34" charset="0"/>
              </a:rPr>
              <a:t>проигрывает LZ78 в сжатии</a:t>
            </a:r>
            <a:r>
              <a:rPr lang="ru-RU" sz="1800" b="0" i="0" u="none" strike="noStrike" dirty="0">
                <a:solidFill>
                  <a:srgbClr val="111111"/>
                </a:solidFill>
                <a:effectLst/>
                <a:latin typeface="Arial" panose="020B0604020202020204" pitchFamily="34" charset="0"/>
              </a:rPr>
              <a:t>.</a:t>
            </a:r>
            <a:r>
              <a:rPr lang="ru-RU" b="0" dirty="0">
                <a:effectLst/>
              </a:rPr>
              <a:t/>
            </a:r>
            <a:br>
              <a:rPr lang="ru-RU" b="0" dirty="0">
                <a:effectLst/>
              </a:rPr>
            </a:br>
            <a:endParaRPr lang="ru-RU" b="0" dirty="0">
              <a:effectLst/>
            </a:endParaRPr>
          </a:p>
        </p:txBody>
      </p:sp>
      <p:sp>
        <p:nvSpPr>
          <p:cNvPr id="5" name="TextBox 4">
            <a:extLst>
              <a:ext uri="{FF2B5EF4-FFF2-40B4-BE49-F238E27FC236}">
                <a16:creationId xmlns:a16="http://schemas.microsoft.com/office/drawing/2014/main" id="{BF9478E7-14EB-417E-A006-405431969E34}"/>
              </a:ext>
            </a:extLst>
          </p:cNvPr>
          <p:cNvSpPr txBox="1"/>
          <p:nvPr/>
        </p:nvSpPr>
        <p:spPr>
          <a:xfrm>
            <a:off x="877647" y="2905854"/>
            <a:ext cx="10957166" cy="3277820"/>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LZSS</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Алгоритм Лемпеля-Зива-</a:t>
            </a:r>
            <a:r>
              <a:rPr lang="ru-RU" sz="1800" b="0" i="0" u="none" strike="noStrike" dirty="0" err="1">
                <a:solidFill>
                  <a:srgbClr val="111111"/>
                </a:solidFill>
                <a:effectLst/>
                <a:latin typeface="Arial" panose="020B0604020202020204" pitchFamily="34" charset="0"/>
              </a:rPr>
              <a:t>Сторера</a:t>
            </a:r>
            <a:r>
              <a:rPr lang="ru-RU" sz="1800" b="0" i="0" u="none" strike="noStrike" dirty="0">
                <a:solidFill>
                  <a:srgbClr val="111111"/>
                </a:solidFill>
                <a:effectLst/>
                <a:latin typeface="Arial" panose="020B0604020202020204" pitchFamily="34" charset="0"/>
              </a:rPr>
              <a:t>-</a:t>
            </a:r>
            <a:r>
              <a:rPr lang="ru-RU" sz="1800" b="0" i="0" u="none" strike="noStrike" dirty="0" err="1">
                <a:solidFill>
                  <a:srgbClr val="111111"/>
                </a:solidFill>
                <a:effectLst/>
                <a:latin typeface="Arial" panose="020B0604020202020204" pitchFamily="34" charset="0"/>
              </a:rPr>
              <a:t>Цимански</a:t>
            </a:r>
            <a:r>
              <a:rPr lang="ru-RU" sz="1800" b="0" i="0" u="none" strike="noStrike" dirty="0">
                <a:solidFill>
                  <a:srgbClr val="111111"/>
                </a:solidFill>
                <a:effectLst/>
                <a:latin typeface="Arial" panose="020B0604020202020204" pitchFamily="34" charset="0"/>
              </a:rPr>
              <a:t> был представлен в 1982 году. Улучшенная версия LZ77, которая просчитывает, </a:t>
            </a:r>
            <a:r>
              <a:rPr lang="ru-RU" sz="1800" b="1" i="0" u="none" strike="noStrike" dirty="0">
                <a:solidFill>
                  <a:srgbClr val="111111"/>
                </a:solidFill>
                <a:effectLst/>
                <a:latin typeface="Arial" panose="020B0604020202020204" pitchFamily="34" charset="0"/>
              </a:rPr>
              <a:t>не увеличит ли размер результата замена исходных данных кодированными.</a:t>
            </a:r>
            <a:endParaRPr lang="ru-RU" b="0" dirty="0">
              <a:effectLst/>
            </a:endParaRPr>
          </a:p>
          <a:p>
            <a:pPr rtl="0">
              <a:lnSpc>
                <a:spcPct val="150000"/>
              </a:lnSpc>
              <a:spcBef>
                <a:spcPts val="0"/>
              </a:spcBef>
              <a:spcAft>
                <a:spcPts val="0"/>
              </a:spcAft>
            </a:pPr>
            <a:r>
              <a:rPr lang="ru-RU" b="0" dirty="0">
                <a:effectLst/>
              </a:rPr>
              <a:t/>
            </a:r>
            <a:br>
              <a:rPr lang="ru-RU" b="0" dirty="0">
                <a:effectLst/>
              </a:rPr>
            </a:br>
            <a:r>
              <a:rPr lang="ru-RU" sz="1800" b="0" i="0" u="none" strike="noStrike" dirty="0">
                <a:solidFill>
                  <a:srgbClr val="111111"/>
                </a:solidFill>
                <a:effectLst/>
                <a:latin typeface="Arial" panose="020B0604020202020204" pitchFamily="34" charset="0"/>
              </a:rPr>
              <a:t>До сих пор используется в популярных архиваторах, например RAR. Иногда – для сжатия данных при передаче по сети.</a:t>
            </a:r>
            <a:endParaRPr lang="ru-RU" b="0" dirty="0">
              <a:effectLst/>
            </a:endParaRPr>
          </a:p>
          <a:p>
            <a:endParaRPr lang="ru-RU" b="0" dirty="0">
              <a:effectLst/>
            </a:endParaRPr>
          </a:p>
        </p:txBody>
      </p:sp>
    </p:spTree>
    <p:extLst>
      <p:ext uri="{BB962C8B-B14F-4D97-AF65-F5344CB8AC3E}">
        <p14:creationId xmlns:p14="http://schemas.microsoft.com/office/powerpoint/2010/main" val="3145731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5617"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8970597"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 – группа </a:t>
            </a:r>
            <a:r>
              <a:rPr lang="en-AU" sz="2400" b="1" dirty="0">
                <a:solidFill>
                  <a:srgbClr val="0133A3"/>
                </a:solidFill>
                <a:latin typeface="Arial" panose="020B0604020202020204" pitchFamily="34" charset="0"/>
                <a:cs typeface="Arial" panose="020B0604020202020204" pitchFamily="34" charset="0"/>
              </a:rPr>
              <a:t>LZ </a:t>
            </a:r>
            <a:r>
              <a:rPr lang="ru-RU" sz="2400" b="1" dirty="0">
                <a:solidFill>
                  <a:srgbClr val="0133A3"/>
                </a:solidFill>
                <a:latin typeface="Arial" panose="020B0604020202020204" pitchFamily="34" charset="0"/>
                <a:cs typeface="Arial" panose="020B0604020202020204" pitchFamily="34" charset="0"/>
              </a:rPr>
              <a:t>(метод скользящего окна)</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2126864"/>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LZH</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Был разработан в 1987 году, расшифровывается как «Лемпель-Зив-Хаффман». Вариация LZSS, использует кодирование Хаффмана для сжатия указателей. </a:t>
            </a:r>
            <a:r>
              <a:rPr lang="ru-RU" sz="1800" b="1" i="0" u="none" strike="noStrike" dirty="0">
                <a:solidFill>
                  <a:srgbClr val="111111"/>
                </a:solidFill>
                <a:effectLst/>
                <a:latin typeface="Arial" panose="020B0604020202020204" pitchFamily="34" charset="0"/>
              </a:rPr>
              <a:t>Сжимает чуть лучше, но ощутимо медленнее.</a:t>
            </a:r>
            <a:r>
              <a:rPr lang="ru-RU" b="0" dirty="0">
                <a:effectLst/>
              </a:rPr>
              <a:t/>
            </a:r>
            <a:br>
              <a:rPr lang="ru-RU" b="0" dirty="0">
                <a:effectLst/>
              </a:rPr>
            </a:br>
            <a:endParaRPr lang="ru-RU" b="0" dirty="0">
              <a:effectLst/>
            </a:endParaRPr>
          </a:p>
        </p:txBody>
      </p:sp>
      <p:sp>
        <p:nvSpPr>
          <p:cNvPr id="5" name="TextBox 4">
            <a:extLst>
              <a:ext uri="{FF2B5EF4-FFF2-40B4-BE49-F238E27FC236}">
                <a16:creationId xmlns:a16="http://schemas.microsoft.com/office/drawing/2014/main" id="{BF9478E7-14EB-417E-A006-405431969E34}"/>
              </a:ext>
            </a:extLst>
          </p:cNvPr>
          <p:cNvSpPr txBox="1"/>
          <p:nvPr/>
        </p:nvSpPr>
        <p:spPr>
          <a:xfrm>
            <a:off x="877647" y="2905854"/>
            <a:ext cx="10957166" cy="2540567"/>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LZB</a:t>
            </a:r>
            <a:endParaRPr lang="ru-RU" b="0" dirty="0">
              <a:solidFill>
                <a:srgbClr val="E90479"/>
              </a:solidFill>
              <a:effectLst/>
            </a:endParaRPr>
          </a:p>
          <a:p>
            <a:pPr rtl="0">
              <a:lnSpc>
                <a:spcPct val="150000"/>
              </a:lnSpc>
              <a:spcBef>
                <a:spcPts val="0"/>
              </a:spcBef>
              <a:spcAft>
                <a:spcPts val="0"/>
              </a:spcAft>
            </a:pPr>
            <a:r>
              <a:rPr lang="ru-RU" b="0" i="0" u="none" strike="noStrike" dirty="0">
                <a:solidFill>
                  <a:srgbClr val="111111"/>
                </a:solidFill>
                <a:effectLst/>
                <a:latin typeface="Arial" panose="020B0604020202020204" pitchFamily="34" charset="0"/>
              </a:rPr>
              <a:t>Разработан в 1987 году Тимоти Беллом, как вариант LZSS. Как и LZH, LZB уменьшает результирующий размер файлов, эффективно кодируя указатели. </a:t>
            </a:r>
            <a:endParaRPr lang="en-AU" b="0" i="0" u="none" strike="noStrike" dirty="0">
              <a:solidFill>
                <a:srgbClr val="111111"/>
              </a:solidFill>
              <a:effectLst/>
              <a:latin typeface="Arial" panose="020B0604020202020204" pitchFamily="34" charset="0"/>
            </a:endParaRPr>
          </a:p>
          <a:p>
            <a:pPr rtl="0">
              <a:lnSpc>
                <a:spcPct val="150000"/>
              </a:lnSpc>
              <a:spcBef>
                <a:spcPts val="0"/>
              </a:spcBef>
              <a:spcAft>
                <a:spcPts val="0"/>
              </a:spcAft>
            </a:pPr>
            <a:r>
              <a:rPr lang="ru-RU" b="0" i="0" u="none" strike="noStrike" dirty="0">
                <a:solidFill>
                  <a:srgbClr val="111111"/>
                </a:solidFill>
                <a:effectLst/>
                <a:latin typeface="Arial" panose="020B0604020202020204" pitchFamily="34" charset="0"/>
              </a:rPr>
              <a:t>Достигается это путем постепенного увеличения размера указателей при увеличении размера скользящего окна</a:t>
            </a:r>
            <a:r>
              <a:rPr lang="ru-RU" b="1" i="0" u="none" strike="noStrike" dirty="0">
                <a:solidFill>
                  <a:srgbClr val="111111"/>
                </a:solidFill>
                <a:effectLst/>
                <a:latin typeface="Arial" panose="020B0604020202020204" pitchFamily="34" charset="0"/>
              </a:rPr>
              <a:t>. Сжатие получается выше</a:t>
            </a:r>
            <a:r>
              <a:rPr lang="ru-RU" b="0" i="0" u="none" strike="noStrike" dirty="0">
                <a:solidFill>
                  <a:srgbClr val="111111"/>
                </a:solidFill>
                <a:effectLst/>
                <a:latin typeface="Arial" panose="020B0604020202020204" pitchFamily="34" charset="0"/>
              </a:rPr>
              <a:t>, чем у LZSS и LZH, но </a:t>
            </a:r>
            <a:r>
              <a:rPr lang="ru-RU" b="1" i="0" u="none" strike="noStrike" dirty="0">
                <a:solidFill>
                  <a:srgbClr val="111111"/>
                </a:solidFill>
                <a:effectLst/>
                <a:latin typeface="Arial" panose="020B0604020202020204" pitchFamily="34" charset="0"/>
              </a:rPr>
              <a:t>скорость значительно меньше</a:t>
            </a:r>
            <a:r>
              <a:rPr lang="ru-RU" b="0" i="0" u="none" strike="noStrike" dirty="0">
                <a:solidFill>
                  <a:srgbClr val="111111"/>
                </a:solidFill>
                <a:effectLst/>
                <a:latin typeface="Arial" panose="020B0604020202020204" pitchFamily="34" charset="0"/>
              </a:rPr>
              <a:t>.</a:t>
            </a:r>
            <a:endParaRPr lang="ru-RU" b="0" dirty="0">
              <a:effectLst/>
            </a:endParaRPr>
          </a:p>
        </p:txBody>
      </p:sp>
    </p:spTree>
    <p:extLst>
      <p:ext uri="{BB962C8B-B14F-4D97-AF65-F5344CB8AC3E}">
        <p14:creationId xmlns:p14="http://schemas.microsoft.com/office/powerpoint/2010/main" val="2252354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6641"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8970597"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 – группа </a:t>
            </a:r>
            <a:r>
              <a:rPr lang="en-AU" sz="2400" b="1" dirty="0">
                <a:solidFill>
                  <a:srgbClr val="0133A3"/>
                </a:solidFill>
                <a:latin typeface="Arial" panose="020B0604020202020204" pitchFamily="34" charset="0"/>
                <a:cs typeface="Arial" panose="020B0604020202020204" pitchFamily="34" charset="0"/>
              </a:rPr>
              <a:t>LZ </a:t>
            </a:r>
            <a:r>
              <a:rPr lang="ru-RU" sz="2400" b="1" dirty="0">
                <a:solidFill>
                  <a:srgbClr val="0133A3"/>
                </a:solidFill>
                <a:latin typeface="Arial" panose="020B0604020202020204" pitchFamily="34" charset="0"/>
                <a:cs typeface="Arial" panose="020B0604020202020204" pitchFamily="34" charset="0"/>
              </a:rPr>
              <a:t>(метод скользящего окна)</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3373359"/>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LZMA</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a:t>
            </a:r>
            <a:r>
              <a:rPr lang="ru-RU" sz="1800" b="0" i="0" u="none" strike="noStrike" dirty="0" err="1">
                <a:solidFill>
                  <a:srgbClr val="111111"/>
                </a:solidFill>
                <a:effectLst/>
                <a:latin typeface="Arial" panose="020B0604020202020204" pitchFamily="34" charset="0"/>
              </a:rPr>
              <a:t>Lempel-Ziv</a:t>
            </a:r>
            <a:r>
              <a:rPr lang="ru-RU" sz="1800" b="0" i="0" u="none" strike="noStrike" dirty="0">
                <a:solidFill>
                  <a:srgbClr val="111111"/>
                </a:solidFill>
                <a:effectLst/>
                <a:latin typeface="Arial" panose="020B0604020202020204" pitchFamily="34" charset="0"/>
              </a:rPr>
              <a:t> </a:t>
            </a:r>
            <a:r>
              <a:rPr lang="ru-RU" sz="1800" b="0" i="0" u="none" strike="noStrike" dirty="0" err="1">
                <a:solidFill>
                  <a:srgbClr val="111111"/>
                </a:solidFill>
                <a:effectLst/>
                <a:latin typeface="Arial" panose="020B0604020202020204" pitchFamily="34" charset="0"/>
              </a:rPr>
              <a:t>Markov</a:t>
            </a:r>
            <a:r>
              <a:rPr lang="ru-RU" sz="1800" b="0" i="0" u="none" strike="noStrike" dirty="0">
                <a:solidFill>
                  <a:srgbClr val="111111"/>
                </a:solidFill>
                <a:effectLst/>
                <a:latin typeface="Arial" panose="020B0604020202020204" pitchFamily="34" charset="0"/>
              </a:rPr>
              <a:t> </a:t>
            </a:r>
            <a:r>
              <a:rPr lang="ru-RU" sz="1800" b="0" i="0" u="none" strike="noStrike" dirty="0" err="1">
                <a:solidFill>
                  <a:srgbClr val="111111"/>
                </a:solidFill>
                <a:effectLst/>
                <a:latin typeface="Arial" panose="020B0604020202020204" pitchFamily="34" charset="0"/>
              </a:rPr>
              <a:t>chain</a:t>
            </a:r>
            <a:r>
              <a:rPr lang="ru-RU" sz="1800" b="0" i="0" u="none" strike="noStrike" dirty="0">
                <a:solidFill>
                  <a:srgbClr val="111111"/>
                </a:solidFill>
                <a:effectLst/>
                <a:latin typeface="Arial" panose="020B0604020202020204" pitchFamily="34" charset="0"/>
              </a:rPr>
              <a:t> </a:t>
            </a:r>
            <a:r>
              <a:rPr lang="ru-RU" sz="1800" b="0" i="0" u="none" strike="noStrike" dirty="0" err="1">
                <a:solidFill>
                  <a:srgbClr val="111111"/>
                </a:solidFill>
                <a:effectLst/>
                <a:latin typeface="Arial" panose="020B0604020202020204" pitchFamily="34" charset="0"/>
              </a:rPr>
              <a:t>Algorithm</a:t>
            </a:r>
            <a:r>
              <a:rPr lang="ru-RU" sz="1800" b="0" i="0" u="none" strike="noStrike" dirty="0">
                <a:solidFill>
                  <a:srgbClr val="111111"/>
                </a:solidFill>
                <a:effectLst/>
                <a:latin typeface="Arial" panose="020B0604020202020204" pitchFamily="34" charset="0"/>
              </a:rPr>
              <a:t>”, появился в 1998 году в архиваторе 7-zip, который демонстрировал сжатие лучше практически всех архиваторов. Алгоритм использует цепочку методов сжатия для достижения наилучшего результата. Вначале слегка изменённый LZ77, работающий на уровне битов (в отличие от обычного метода работы с байтами), </a:t>
            </a:r>
            <a:r>
              <a:rPr lang="ru-RU" sz="1800" b="0" i="0" u="none" strike="noStrike" dirty="0" err="1">
                <a:solidFill>
                  <a:srgbClr val="111111"/>
                </a:solidFill>
                <a:effectLst/>
                <a:latin typeface="Arial" panose="020B0604020202020204" pitchFamily="34" charset="0"/>
              </a:rPr>
              <a:t>парсит</a:t>
            </a:r>
            <a:r>
              <a:rPr lang="ru-RU" sz="1800" b="0" i="0" u="none" strike="noStrike" dirty="0">
                <a:solidFill>
                  <a:srgbClr val="111111"/>
                </a:solidFill>
                <a:effectLst/>
                <a:latin typeface="Arial" panose="020B0604020202020204" pitchFamily="34" charset="0"/>
              </a:rPr>
              <a:t> данные. Его вывод подвергается арифметическому кодированию. Затем могут быть применены другие алгоритмы. В результате получается </a:t>
            </a:r>
            <a:r>
              <a:rPr lang="ru-RU" sz="1800" b="1" i="0" u="none" strike="noStrike" dirty="0">
                <a:solidFill>
                  <a:srgbClr val="111111"/>
                </a:solidFill>
                <a:effectLst/>
                <a:latin typeface="Arial" panose="020B0604020202020204" pitchFamily="34" charset="0"/>
              </a:rPr>
              <a:t>наилучшая компрессия среди всех архиваторов.</a:t>
            </a:r>
            <a:r>
              <a:rPr lang="ru-RU" b="0" dirty="0">
                <a:effectLst/>
              </a:rPr>
              <a:t/>
            </a:r>
            <a:br>
              <a:rPr lang="ru-RU" b="0" dirty="0">
                <a:effectLst/>
              </a:rPr>
            </a:br>
            <a:endParaRPr lang="ru-RU" b="0" dirty="0">
              <a:effectLst/>
            </a:endParaRPr>
          </a:p>
        </p:txBody>
      </p:sp>
      <p:sp>
        <p:nvSpPr>
          <p:cNvPr id="5" name="TextBox 4">
            <a:extLst>
              <a:ext uri="{FF2B5EF4-FFF2-40B4-BE49-F238E27FC236}">
                <a16:creationId xmlns:a16="http://schemas.microsoft.com/office/drawing/2014/main" id="{BF9478E7-14EB-417E-A006-405431969E34}"/>
              </a:ext>
            </a:extLst>
          </p:cNvPr>
          <p:cNvSpPr txBox="1"/>
          <p:nvPr/>
        </p:nvSpPr>
        <p:spPr>
          <a:xfrm>
            <a:off x="779035" y="4349172"/>
            <a:ext cx="10957166" cy="1615827"/>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LZMA2</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Следующая версия LZMA, от 2009 года, использует </a:t>
            </a:r>
            <a:r>
              <a:rPr lang="ru-RU" sz="1800" b="1" i="0" u="none" strike="noStrike" dirty="0">
                <a:solidFill>
                  <a:srgbClr val="111111"/>
                </a:solidFill>
                <a:effectLst/>
                <a:latin typeface="Arial" panose="020B0604020202020204" pitchFamily="34" charset="0"/>
              </a:rPr>
              <a:t>многопоточность</a:t>
            </a:r>
            <a:r>
              <a:rPr lang="ru-RU" sz="1800" b="0" i="0" u="none" strike="noStrike" dirty="0">
                <a:solidFill>
                  <a:srgbClr val="111111"/>
                </a:solidFill>
                <a:effectLst/>
                <a:latin typeface="Arial" panose="020B0604020202020204" pitchFamily="34" charset="0"/>
              </a:rPr>
              <a:t> и чуть </a:t>
            </a:r>
            <a:r>
              <a:rPr lang="ru-RU" sz="1800" b="1" i="0" u="none" strike="noStrike" dirty="0">
                <a:solidFill>
                  <a:srgbClr val="111111"/>
                </a:solidFill>
                <a:effectLst/>
                <a:latin typeface="Arial" panose="020B0604020202020204" pitchFamily="34" charset="0"/>
              </a:rPr>
              <a:t>эффективнее хранит несжимаемые данны</a:t>
            </a:r>
            <a:r>
              <a:rPr lang="ru-RU" sz="1800" b="0" i="0" u="none" strike="noStrike" dirty="0">
                <a:solidFill>
                  <a:srgbClr val="111111"/>
                </a:solidFill>
                <a:effectLst/>
                <a:latin typeface="Arial" panose="020B0604020202020204" pitchFamily="34" charset="0"/>
              </a:rPr>
              <a:t>е.</a:t>
            </a:r>
            <a:endParaRPr lang="ru-RU" b="0" dirty="0">
              <a:effectLst/>
            </a:endParaRPr>
          </a:p>
          <a:p>
            <a:endParaRPr lang="ru-RU" b="0" dirty="0">
              <a:effectLst/>
            </a:endParaRPr>
          </a:p>
        </p:txBody>
      </p:sp>
    </p:spTree>
    <p:extLst>
      <p:ext uri="{BB962C8B-B14F-4D97-AF65-F5344CB8AC3E}">
        <p14:creationId xmlns:p14="http://schemas.microsoft.com/office/powerpoint/2010/main" val="162152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7665"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9402126"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 – группа </a:t>
            </a:r>
            <a:r>
              <a:rPr lang="en-AU" sz="2400" b="1" dirty="0">
                <a:solidFill>
                  <a:srgbClr val="0133A3"/>
                </a:solidFill>
                <a:latin typeface="Arial" panose="020B0604020202020204" pitchFamily="34" charset="0"/>
                <a:cs typeface="Arial" panose="020B0604020202020204" pitchFamily="34" charset="0"/>
              </a:rPr>
              <a:t>LZ </a:t>
            </a:r>
            <a:r>
              <a:rPr lang="ru-RU" sz="2400" b="1" dirty="0">
                <a:solidFill>
                  <a:srgbClr val="0133A3"/>
                </a:solidFill>
                <a:latin typeface="Arial" panose="020B0604020202020204" pitchFamily="34" charset="0"/>
                <a:cs typeface="Arial" panose="020B0604020202020204" pitchFamily="34" charset="0"/>
              </a:rPr>
              <a:t>(с использованием словаря)</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6324808"/>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a:t>
            </a:r>
            <a:r>
              <a:rPr lang="ru-RU" b="1" dirty="0">
                <a:solidFill>
                  <a:srgbClr val="E90479"/>
                </a:solidFill>
                <a:latin typeface="Arial" panose="020B0604020202020204" pitchFamily="34" charset="0"/>
              </a:rPr>
              <a:t>78</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Алгоритм 1978 года, авторы – Лемпель и Зив. Вместо использования скользящего окна для создания словаря, словарь составляется при </a:t>
            </a:r>
            <a:r>
              <a:rPr lang="ru-RU" sz="1800" b="0" i="0" u="none" strike="noStrike" dirty="0" err="1">
                <a:solidFill>
                  <a:srgbClr val="111111"/>
                </a:solidFill>
                <a:effectLst/>
                <a:latin typeface="Arial" panose="020B0604020202020204" pitchFamily="34" charset="0"/>
              </a:rPr>
              <a:t>парсинге</a:t>
            </a:r>
            <a:r>
              <a:rPr lang="ru-RU" sz="1800" b="0" i="0" u="none" strike="noStrike" dirty="0">
                <a:solidFill>
                  <a:srgbClr val="111111"/>
                </a:solidFill>
                <a:effectLst/>
                <a:latin typeface="Arial" panose="020B0604020202020204" pitchFamily="34" charset="0"/>
              </a:rPr>
              <a:t> данных из файла. Объём словаря обычно измеряется в нескольких мегабайтах. Отличия в вариантах этого алгоритма строятся на том, что делать, когда словарь заполнен.</a:t>
            </a:r>
            <a:endParaRPr lang="ru-RU" b="0" dirty="0">
              <a:effectLst/>
            </a:endParaRPr>
          </a:p>
          <a:p>
            <a:pPr rtl="0">
              <a:lnSpc>
                <a:spcPct val="150000"/>
              </a:lnSpc>
              <a:spcBef>
                <a:spcPts val="0"/>
              </a:spcBef>
              <a:spcAft>
                <a:spcPts val="0"/>
              </a:spcAft>
            </a:pPr>
            <a:r>
              <a:rPr lang="ru-RU" b="0" dirty="0">
                <a:effectLst/>
              </a:rPr>
              <a:t/>
            </a:r>
            <a:br>
              <a:rPr lang="ru-RU" b="0" dirty="0">
                <a:effectLst/>
              </a:rPr>
            </a:br>
            <a:r>
              <a:rPr lang="ru-RU" sz="1800" b="0" i="0" u="none" strike="noStrike" dirty="0">
                <a:solidFill>
                  <a:srgbClr val="111111"/>
                </a:solidFill>
                <a:effectLst/>
                <a:latin typeface="Arial" panose="020B0604020202020204" pitchFamily="34" charset="0"/>
              </a:rPr>
              <a:t>При </a:t>
            </a:r>
            <a:r>
              <a:rPr lang="ru-RU" sz="1800" b="0" i="0" u="none" strike="noStrike" dirty="0" err="1">
                <a:solidFill>
                  <a:srgbClr val="111111"/>
                </a:solidFill>
                <a:effectLst/>
                <a:latin typeface="Arial" panose="020B0604020202020204" pitchFamily="34" charset="0"/>
              </a:rPr>
              <a:t>парсинге</a:t>
            </a:r>
            <a:r>
              <a:rPr lang="ru-RU" sz="1800" b="0" i="0" u="none" strike="noStrike" dirty="0">
                <a:solidFill>
                  <a:srgbClr val="111111"/>
                </a:solidFill>
                <a:effectLst/>
                <a:latin typeface="Arial" panose="020B0604020202020204" pitchFamily="34" charset="0"/>
              </a:rPr>
              <a:t> файла алгоритм добавляет каждый новый символ или их сочетание в словарь. Для каждого символа на входе создаётся словарная форма (индекс + неизвестный символ) на выходе. Если первый символ строки уже есть в словаре, ищем в словаре подстроки данной строки, и самая длинная используется для построения индекса. Данные, на которые указывает индекс, добавляются к последнему символу неизвестной подстроки. Если текущий символ не найден, индекс устанавливается в 0, показывая, что это вхождение одиночного символа в словарь. Записи формируют связанный список.</a:t>
            </a:r>
            <a:endParaRPr lang="ru-RU" b="0" dirty="0">
              <a:effectLst/>
            </a:endParaRPr>
          </a:p>
          <a:p>
            <a:r>
              <a:rPr lang="ru-RU" dirty="0"/>
              <a:t/>
            </a:r>
            <a:br>
              <a:rPr lang="ru-RU" dirty="0"/>
            </a:br>
            <a:r>
              <a:rPr lang="ru-RU" b="0" dirty="0">
                <a:effectLst/>
              </a:rPr>
              <a:t/>
            </a:r>
            <a:br>
              <a:rPr lang="ru-RU" b="0" dirty="0">
                <a:effectLst/>
              </a:rPr>
            </a:br>
            <a:endParaRPr lang="ru-RU" b="0" dirty="0">
              <a:effectLst/>
            </a:endParaRPr>
          </a:p>
        </p:txBody>
      </p:sp>
    </p:spTree>
    <p:extLst>
      <p:ext uri="{BB962C8B-B14F-4D97-AF65-F5344CB8AC3E}">
        <p14:creationId xmlns:p14="http://schemas.microsoft.com/office/powerpoint/2010/main" val="3428150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8689"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9402126"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Алгоритмы сжатия – группа </a:t>
            </a:r>
            <a:r>
              <a:rPr lang="en-AU" sz="2400" b="1" dirty="0">
                <a:solidFill>
                  <a:srgbClr val="0133A3"/>
                </a:solidFill>
                <a:latin typeface="Arial" panose="020B0604020202020204" pitchFamily="34" charset="0"/>
                <a:cs typeface="Arial" panose="020B0604020202020204" pitchFamily="34" charset="0"/>
              </a:rPr>
              <a:t>LZ </a:t>
            </a:r>
            <a:r>
              <a:rPr lang="ru-RU" sz="2400" b="1" dirty="0">
                <a:solidFill>
                  <a:srgbClr val="0133A3"/>
                </a:solidFill>
                <a:latin typeface="Arial" panose="020B0604020202020204" pitchFamily="34" charset="0"/>
                <a:cs typeface="Arial" panose="020B0604020202020204" pitchFamily="34" charset="0"/>
              </a:rPr>
              <a:t>(с использованием словаря)</a:t>
            </a: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5450851"/>
          </a:xfrm>
          <a:prstGeom prst="rect">
            <a:avLst/>
          </a:prstGeom>
          <a:noFill/>
        </p:spPr>
        <p:txBody>
          <a:bodyPr wrap="square" rtlCol="0">
            <a:spAutoFit/>
          </a:bodyPr>
          <a:lstStyle/>
          <a:p>
            <a:pPr rtl="0">
              <a:lnSpc>
                <a:spcPct val="150000"/>
              </a:lnSpc>
              <a:spcBef>
                <a:spcPts val="0"/>
              </a:spcBef>
              <a:spcAft>
                <a:spcPts val="0"/>
              </a:spcAft>
            </a:pPr>
            <a:r>
              <a:rPr lang="en-AU" b="1" dirty="0">
                <a:solidFill>
                  <a:srgbClr val="E90479"/>
                </a:solidFill>
                <a:latin typeface="Arial" panose="020B0604020202020204" pitchFamily="34" charset="0"/>
              </a:rPr>
              <a:t>LZW</a:t>
            </a:r>
            <a:endParaRPr lang="ru-RU" b="0" dirty="0">
              <a:solidFill>
                <a:srgbClr val="E90479"/>
              </a:solidFill>
              <a:effectLst/>
            </a:endParaRPr>
          </a:p>
          <a:p>
            <a:pPr rtl="0">
              <a:lnSpc>
                <a:spcPct val="150000"/>
              </a:lnSpc>
              <a:spcBef>
                <a:spcPts val="0"/>
              </a:spcBef>
              <a:spcAft>
                <a:spcPts val="0"/>
              </a:spcAft>
            </a:pPr>
            <a:r>
              <a:rPr lang="ru-RU" sz="1800" b="0" i="0" u="none" strike="noStrike" dirty="0">
                <a:solidFill>
                  <a:srgbClr val="111111"/>
                </a:solidFill>
                <a:effectLst/>
                <a:latin typeface="Arial" panose="020B0604020202020204" pitchFamily="34" charset="0"/>
              </a:rPr>
              <a:t>Лемпель-Зив-</a:t>
            </a:r>
            <a:r>
              <a:rPr lang="ru-RU" sz="1800" b="0" i="0" u="none" strike="noStrike" dirty="0" err="1">
                <a:solidFill>
                  <a:srgbClr val="111111"/>
                </a:solidFill>
                <a:effectLst/>
                <a:latin typeface="Arial" panose="020B0604020202020204" pitchFamily="34" charset="0"/>
              </a:rPr>
              <a:t>Велч</a:t>
            </a:r>
            <a:r>
              <a:rPr lang="ru-RU" sz="1800" b="0" i="0" u="none" strike="noStrike" dirty="0">
                <a:solidFill>
                  <a:srgbClr val="111111"/>
                </a:solidFill>
                <a:effectLst/>
                <a:latin typeface="Arial" panose="020B0604020202020204" pitchFamily="34" charset="0"/>
              </a:rPr>
              <a:t>, 1984 год. </a:t>
            </a:r>
            <a:endParaRPr lang="en-AU" sz="1800" b="0" i="0" u="none" strike="noStrike" dirty="0">
              <a:solidFill>
                <a:srgbClr val="111111"/>
              </a:solidFill>
              <a:effectLst/>
              <a:latin typeface="Arial" panose="020B0604020202020204" pitchFamily="34" charset="0"/>
            </a:endParaRPr>
          </a:p>
          <a:p>
            <a:pPr rtl="0">
              <a:lnSpc>
                <a:spcPct val="150000"/>
              </a:lnSpc>
              <a:spcBef>
                <a:spcPts val="0"/>
              </a:spcBef>
              <a:spcAft>
                <a:spcPts val="0"/>
              </a:spcAft>
            </a:pPr>
            <a:endParaRPr lang="ru-RU" b="0" dirty="0">
              <a:effectLst/>
            </a:endParaRPr>
          </a:p>
          <a:p>
            <a:pPr>
              <a:lnSpc>
                <a:spcPct val="150000"/>
              </a:lnSpc>
            </a:pPr>
            <a:r>
              <a:rPr lang="ru-RU" sz="1800" b="0" i="0" u="none" strike="noStrike" dirty="0">
                <a:solidFill>
                  <a:srgbClr val="111111"/>
                </a:solidFill>
                <a:effectLst/>
                <a:latin typeface="Arial" panose="020B0604020202020204" pitchFamily="34" charset="0"/>
              </a:rPr>
              <a:t>Самый популярный вариант LZ78, несмотря на </a:t>
            </a:r>
            <a:r>
              <a:rPr lang="ru-RU" sz="1800" b="0" i="0" u="none" strike="noStrike" dirty="0" err="1">
                <a:solidFill>
                  <a:srgbClr val="111111"/>
                </a:solidFill>
                <a:effectLst/>
                <a:latin typeface="Arial" panose="020B0604020202020204" pitchFamily="34" charset="0"/>
              </a:rPr>
              <a:t>запатентованность</a:t>
            </a:r>
            <a:r>
              <a:rPr lang="ru-RU" sz="1800" b="0" i="0" u="none" strike="noStrike" dirty="0">
                <a:solidFill>
                  <a:srgbClr val="111111"/>
                </a:solidFill>
                <a:effectLst/>
                <a:latin typeface="Arial" panose="020B0604020202020204" pitchFamily="34" charset="0"/>
              </a:rPr>
              <a:t>. Алгоритм избавляется от лишних символов на выходе и данные состоят только из указателей. Также он сохраняет все символы словаря перед сжатием и использует другие трюки, позволяющие улучшать сжатие – к примеру, кодирование последнего символа предыдущей фразы в качестве первого символа следующей. Используется в GIF, ранних версиях ZIP и других специальных приложениях. </a:t>
            </a:r>
            <a:endParaRPr lang="en-AU" sz="1800" b="0" i="0" u="none" strike="noStrike" dirty="0">
              <a:solidFill>
                <a:srgbClr val="111111"/>
              </a:solidFill>
              <a:effectLst/>
              <a:latin typeface="Arial" panose="020B0604020202020204" pitchFamily="34" charset="0"/>
            </a:endParaRPr>
          </a:p>
          <a:p>
            <a:pPr>
              <a:lnSpc>
                <a:spcPct val="150000"/>
              </a:lnSpc>
            </a:pPr>
            <a:endParaRPr lang="en-AU" dirty="0">
              <a:solidFill>
                <a:srgbClr val="111111"/>
              </a:solidFill>
              <a:latin typeface="Arial" panose="020B0604020202020204" pitchFamily="34" charset="0"/>
            </a:endParaRPr>
          </a:p>
          <a:p>
            <a:pPr>
              <a:lnSpc>
                <a:spcPct val="150000"/>
              </a:lnSpc>
            </a:pPr>
            <a:r>
              <a:rPr lang="ru-RU" sz="1800" b="1" i="0" u="none" strike="noStrike" dirty="0">
                <a:solidFill>
                  <a:srgbClr val="111111"/>
                </a:solidFill>
                <a:effectLst/>
                <a:latin typeface="Arial" panose="020B0604020202020204" pitchFamily="34" charset="0"/>
              </a:rPr>
              <a:t>Очень быстр, но проигрывает в сжатии более новым алгоритмам.</a:t>
            </a:r>
            <a:br>
              <a:rPr lang="ru-RU" sz="1800" b="1" i="0" u="none" strike="noStrike" dirty="0">
                <a:solidFill>
                  <a:srgbClr val="111111"/>
                </a:solidFill>
                <a:effectLst/>
                <a:latin typeface="Arial" panose="020B0604020202020204" pitchFamily="34" charset="0"/>
              </a:rPr>
            </a:br>
            <a:r>
              <a:rPr lang="ru-RU" dirty="0"/>
              <a:t/>
            </a:r>
            <a:br>
              <a:rPr lang="ru-RU" dirty="0"/>
            </a:br>
            <a:r>
              <a:rPr lang="ru-RU" b="0" dirty="0">
                <a:effectLst/>
              </a:rPr>
              <a:t/>
            </a:r>
            <a:br>
              <a:rPr lang="ru-RU" b="0" dirty="0">
                <a:effectLst/>
              </a:rPr>
            </a:br>
            <a:endParaRPr lang="ru-RU" b="0" dirty="0">
              <a:effectLst/>
            </a:endParaRPr>
          </a:p>
        </p:txBody>
      </p:sp>
    </p:spTree>
    <p:extLst>
      <p:ext uri="{BB962C8B-B14F-4D97-AF65-F5344CB8AC3E}">
        <p14:creationId xmlns:p14="http://schemas.microsoft.com/office/powerpoint/2010/main" val="4088968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9941"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934871"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 </a:t>
            </a:r>
            <a:r>
              <a:rPr lang="en-AU" sz="2400" b="1" dirty="0" smtClean="0">
                <a:solidFill>
                  <a:srgbClr val="0133A3"/>
                </a:solidFill>
                <a:latin typeface="Arial" panose="020B0604020202020204" pitchFamily="34" charset="0"/>
                <a:cs typeface="Arial" panose="020B0604020202020204" pitchFamily="34" charset="0"/>
              </a:rPr>
              <a:t>LZW</a:t>
            </a:r>
            <a:endParaRPr lang="ru-RU" sz="2400" b="1" dirty="0" smtClean="0">
              <a:solidFill>
                <a:srgbClr val="0133A3"/>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7155805"/>
          </a:xfrm>
          <a:prstGeom prst="rect">
            <a:avLst/>
          </a:prstGeom>
          <a:noFill/>
        </p:spPr>
        <p:txBody>
          <a:bodyPr wrap="square" rtlCol="0">
            <a:spAutoFit/>
          </a:bodyPr>
          <a:lstStyle/>
          <a:p>
            <a:pPr>
              <a:lnSpc>
                <a:spcPct val="150000"/>
              </a:lnSpc>
            </a:pPr>
            <a:r>
              <a:rPr lang="ru-RU" dirty="0"/>
              <a:t>	Как в процессе упаковки, так и при распаковке </a:t>
            </a:r>
            <a:r>
              <a:rPr lang="ru-RU" dirty="0">
                <a:solidFill>
                  <a:srgbClr val="000392"/>
                </a:solidFill>
              </a:rPr>
              <a:t>создается словарь</a:t>
            </a:r>
            <a:r>
              <a:rPr lang="ru-RU" dirty="0"/>
              <a:t>, так что сохранять его вместе с текстом не нужно. В словарь заносятся </a:t>
            </a:r>
            <a:r>
              <a:rPr lang="ru-RU" dirty="0" smtClean="0"/>
              <a:t>подстроки </a:t>
            </a:r>
            <a:r>
              <a:rPr lang="ru-RU" dirty="0"/>
              <a:t>исходного текста. При упаковке они заменяются номерами, под которыми они найдены в словаре. </a:t>
            </a:r>
            <a:endParaRPr lang="en-US" dirty="0" smtClean="0"/>
          </a:p>
          <a:p>
            <a:pPr>
              <a:lnSpc>
                <a:spcPct val="150000"/>
              </a:lnSpc>
            </a:pPr>
            <a:r>
              <a:rPr lang="ru-RU" dirty="0" smtClean="0"/>
              <a:t>Алгоритм </a:t>
            </a:r>
            <a:r>
              <a:rPr lang="ru-RU" dirty="0"/>
              <a:t>сжатия можно </a:t>
            </a:r>
            <a:r>
              <a:rPr lang="ru-RU" dirty="0" smtClean="0"/>
              <a:t>представить </a:t>
            </a:r>
            <a:r>
              <a:rPr lang="ru-RU" dirty="0"/>
              <a:t>на псевдокоде таким образом:</a:t>
            </a:r>
          </a:p>
          <a:p>
            <a:pPr>
              <a:lnSpc>
                <a:spcPct val="150000"/>
              </a:lnSpc>
            </a:pPr>
            <a:r>
              <a:rPr lang="ru-RU" dirty="0"/>
              <a:t>Инициализировать словарь.</a:t>
            </a:r>
          </a:p>
          <a:p>
            <a:pPr>
              <a:lnSpc>
                <a:spcPct val="150000"/>
              </a:lnSpc>
            </a:pPr>
            <a:r>
              <a:rPr lang="ru-RU" dirty="0"/>
              <a:t>Установить текущую позицию в начало текста. </a:t>
            </a:r>
          </a:p>
          <a:p>
            <a:pPr>
              <a:lnSpc>
                <a:spcPct val="150000"/>
              </a:lnSpc>
            </a:pPr>
            <a:r>
              <a:rPr lang="ru-RU" dirty="0"/>
              <a:t>ПОКА не весь текст запакован:</a:t>
            </a:r>
          </a:p>
          <a:p>
            <a:pPr>
              <a:lnSpc>
                <a:spcPct val="150000"/>
              </a:lnSpc>
            </a:pPr>
            <a:r>
              <a:rPr lang="ru-RU" dirty="0"/>
              <a:t>-	выделить наиболее длинную, начинающуюся в текущей позиции </a:t>
            </a:r>
            <a:r>
              <a:rPr lang="ru-RU" dirty="0" err="1"/>
              <a:t>подстро</a:t>
            </a:r>
            <a:r>
              <a:rPr lang="ru-RU" dirty="0"/>
              <a:t>-ку S, для которой есть соответствие в словаре;</a:t>
            </a:r>
          </a:p>
          <a:p>
            <a:pPr>
              <a:lnSpc>
                <a:spcPct val="150000"/>
              </a:lnSpc>
            </a:pPr>
            <a:r>
              <a:rPr lang="ru-RU" dirty="0"/>
              <a:t>-	записать в архив номер позиции P найденной подстроки в словаре;</a:t>
            </a:r>
          </a:p>
          <a:p>
            <a:pPr>
              <a:lnSpc>
                <a:spcPct val="150000"/>
              </a:lnSpc>
            </a:pPr>
            <a:r>
              <a:rPr lang="ru-RU" dirty="0"/>
              <a:t>-	посмотреть следующий за подстрокой в тексте символ K;</a:t>
            </a:r>
          </a:p>
          <a:p>
            <a:pPr>
              <a:lnSpc>
                <a:spcPct val="150000"/>
              </a:lnSpc>
            </a:pPr>
            <a:r>
              <a:rPr lang="ru-RU" dirty="0"/>
              <a:t>-	занести в словарь строку SK;</a:t>
            </a:r>
          </a:p>
          <a:p>
            <a:pPr>
              <a:lnSpc>
                <a:spcPct val="150000"/>
              </a:lnSpc>
            </a:pPr>
            <a:r>
              <a:rPr lang="ru-RU" dirty="0"/>
              <a:t>-	продвинуть текущую позицию, чтобы она указывала на символ K.</a:t>
            </a:r>
          </a:p>
          <a:p>
            <a:pPr>
              <a:lnSpc>
                <a:spcPct val="150000"/>
              </a:lnSpc>
            </a:pPr>
            <a:r>
              <a:rPr lang="ru-RU" dirty="0"/>
              <a:t>КОНЕЦ ПОКА.</a:t>
            </a:r>
          </a:p>
          <a:p>
            <a:pPr>
              <a:lnSpc>
                <a:spcPct val="150000"/>
              </a:lnSpc>
            </a:pPr>
            <a:endParaRPr lang="ru-RU" dirty="0"/>
          </a:p>
          <a:p>
            <a:pPr rtl="0">
              <a:lnSpc>
                <a:spcPct val="150000"/>
              </a:lnSpc>
              <a:spcBef>
                <a:spcPts val="0"/>
              </a:spcBef>
              <a:spcAft>
                <a:spcPts val="0"/>
              </a:spcAft>
            </a:pPr>
            <a:r>
              <a:rPr lang="ru-RU" b="0" dirty="0">
                <a:effectLst/>
              </a:rPr>
              <a:t/>
            </a:r>
            <a:br>
              <a:rPr lang="ru-RU" b="0" dirty="0">
                <a:effectLst/>
              </a:rPr>
            </a:br>
            <a:endParaRPr lang="ru-RU" b="0" dirty="0">
              <a:effectLst/>
            </a:endParaRPr>
          </a:p>
        </p:txBody>
      </p:sp>
    </p:spTree>
    <p:extLst>
      <p:ext uri="{BB962C8B-B14F-4D97-AF65-F5344CB8AC3E}">
        <p14:creationId xmlns:p14="http://schemas.microsoft.com/office/powerpoint/2010/main" val="2252163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38918"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934871"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 </a:t>
            </a:r>
            <a:r>
              <a:rPr lang="en-AU" sz="2400" b="1" dirty="0" smtClean="0">
                <a:solidFill>
                  <a:srgbClr val="0133A3"/>
                </a:solidFill>
                <a:latin typeface="Arial" panose="020B0604020202020204" pitchFamily="34" charset="0"/>
                <a:cs typeface="Arial" panose="020B0604020202020204" pitchFamily="34" charset="0"/>
              </a:rPr>
              <a:t>LZW</a:t>
            </a:r>
            <a:endParaRPr lang="ru-RU" sz="2400" b="1" dirty="0">
              <a:solidFill>
                <a:srgbClr val="0133A3"/>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6324808"/>
          </a:xfrm>
          <a:prstGeom prst="rect">
            <a:avLst/>
          </a:prstGeom>
          <a:noFill/>
        </p:spPr>
        <p:txBody>
          <a:bodyPr wrap="square" rtlCol="0">
            <a:spAutoFit/>
          </a:bodyPr>
          <a:lstStyle/>
          <a:p>
            <a:pPr>
              <a:lnSpc>
                <a:spcPct val="150000"/>
              </a:lnSpc>
            </a:pPr>
            <a:r>
              <a:rPr lang="ru-RU" dirty="0" smtClean="0"/>
              <a:t>Алгоритм </a:t>
            </a:r>
            <a:r>
              <a:rPr lang="ru-RU" dirty="0"/>
              <a:t>распаковки выглядит так:</a:t>
            </a:r>
          </a:p>
          <a:p>
            <a:pPr>
              <a:lnSpc>
                <a:spcPct val="150000"/>
              </a:lnSpc>
            </a:pPr>
            <a:r>
              <a:rPr lang="ru-RU" dirty="0"/>
              <a:t>Инициализировать словарь. </a:t>
            </a:r>
            <a:r>
              <a:rPr lang="ru-RU" dirty="0" smtClean="0"/>
              <a:t>Установить </a:t>
            </a:r>
            <a:r>
              <a:rPr lang="ru-RU" dirty="0"/>
              <a:t>позицию на начало архива.</a:t>
            </a:r>
          </a:p>
          <a:p>
            <a:pPr>
              <a:lnSpc>
                <a:spcPct val="150000"/>
              </a:lnSpc>
            </a:pPr>
            <a:r>
              <a:rPr lang="ru-RU" dirty="0"/>
              <a:t>ПОКА не весь архив распакован:</a:t>
            </a:r>
          </a:p>
          <a:p>
            <a:pPr>
              <a:lnSpc>
                <a:spcPct val="150000"/>
              </a:lnSpc>
            </a:pPr>
            <a:r>
              <a:rPr lang="ru-RU" dirty="0"/>
              <a:t>-	прочесть из архива очередное число P;</a:t>
            </a:r>
          </a:p>
          <a:p>
            <a:pPr>
              <a:lnSpc>
                <a:spcPct val="150000"/>
              </a:lnSpc>
            </a:pPr>
            <a:r>
              <a:rPr lang="ru-RU" dirty="0"/>
              <a:t>-	найти строку S, лежащую на позиции P в словаре. Записать S в конец распакованного текста. Прочесть из архива следующее за P число Q и найти в словаре строку U, находящуюся на месте Q;</a:t>
            </a:r>
          </a:p>
          <a:p>
            <a:pPr>
              <a:lnSpc>
                <a:spcPct val="150000"/>
              </a:lnSpc>
            </a:pPr>
            <a:r>
              <a:rPr lang="ru-RU" dirty="0"/>
              <a:t>-	записать в словарь SU[1]. Продвинуть текущую позицию на символ Q.</a:t>
            </a:r>
          </a:p>
          <a:p>
            <a:pPr>
              <a:lnSpc>
                <a:spcPct val="150000"/>
              </a:lnSpc>
            </a:pPr>
            <a:r>
              <a:rPr lang="ru-RU" dirty="0"/>
              <a:t>КОНЕЦ ПОКА</a:t>
            </a:r>
            <a:r>
              <a:rPr lang="ru-RU" dirty="0" smtClean="0"/>
              <a:t>.</a:t>
            </a:r>
          </a:p>
          <a:p>
            <a:pPr>
              <a:lnSpc>
                <a:spcPct val="150000"/>
              </a:lnSpc>
            </a:pPr>
            <a:endParaRPr lang="ru-RU" dirty="0"/>
          </a:p>
          <a:p>
            <a:pPr>
              <a:lnSpc>
                <a:spcPct val="150000"/>
              </a:lnSpc>
            </a:pPr>
            <a:r>
              <a:rPr lang="ru-RU" dirty="0"/>
              <a:t>	Основной принцип, на основе которого построены все вариации </a:t>
            </a:r>
            <a:r>
              <a:rPr lang="ru-RU" dirty="0" smtClean="0"/>
              <a:t>алгоритма</a:t>
            </a:r>
            <a:r>
              <a:rPr lang="ru-RU" dirty="0"/>
              <a:t>, состоит в том, что упаковщик и распаковщик изменяют словарь </a:t>
            </a:r>
            <a:r>
              <a:rPr lang="ru-RU" dirty="0" smtClean="0"/>
              <a:t>одинаковым </a:t>
            </a:r>
            <a:r>
              <a:rPr lang="ru-RU" dirty="0"/>
              <a:t>образом.  Благодаря  этому получаемая при декомпрессии из </a:t>
            </a:r>
            <a:r>
              <a:rPr lang="ru-RU" dirty="0" smtClean="0"/>
              <a:t>словаря </a:t>
            </a:r>
            <a:r>
              <a:rPr lang="ru-RU" dirty="0"/>
              <a:t>по номеру N строка совпадает со строкой, которую упаковщик </a:t>
            </a:r>
            <a:r>
              <a:rPr lang="ru-RU" dirty="0" smtClean="0"/>
              <a:t>зашифровал </a:t>
            </a:r>
            <a:r>
              <a:rPr lang="ru-RU" dirty="0"/>
              <a:t>тем же числом N.</a:t>
            </a:r>
          </a:p>
          <a:p>
            <a:pPr rtl="0">
              <a:lnSpc>
                <a:spcPct val="150000"/>
              </a:lnSpc>
              <a:spcBef>
                <a:spcPts val="0"/>
              </a:spcBef>
              <a:spcAft>
                <a:spcPts val="0"/>
              </a:spcAft>
            </a:pPr>
            <a:r>
              <a:rPr lang="ru-RU" b="0" dirty="0">
                <a:effectLst/>
              </a:rPr>
              <a:t/>
            </a:r>
            <a:br>
              <a:rPr lang="ru-RU" b="0" dirty="0">
                <a:effectLst/>
              </a:rPr>
            </a:br>
            <a:endParaRPr lang="ru-RU" b="0" dirty="0">
              <a:effectLst/>
            </a:endParaRPr>
          </a:p>
        </p:txBody>
      </p:sp>
    </p:spTree>
    <p:extLst>
      <p:ext uri="{BB962C8B-B14F-4D97-AF65-F5344CB8AC3E}">
        <p14:creationId xmlns:p14="http://schemas.microsoft.com/office/powerpoint/2010/main" val="1048750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40964"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934871" cy="461665"/>
          </a:xfrm>
          <a:prstGeom prst="rect">
            <a:avLst/>
          </a:prstGeom>
          <a:noFill/>
        </p:spPr>
        <p:txBody>
          <a:bodyPr wrap="none" rtlCol="0">
            <a:spAutoFit/>
          </a:bodyPr>
          <a:lstStyle/>
          <a:p>
            <a:r>
              <a:rPr lang="ru-RU" sz="2400" b="1" dirty="0" smtClean="0">
                <a:solidFill>
                  <a:srgbClr val="0133A3"/>
                </a:solidFill>
                <a:latin typeface="Arial" panose="020B0604020202020204" pitchFamily="34" charset="0"/>
                <a:cs typeface="Arial" panose="020B0604020202020204" pitchFamily="34" charset="0"/>
              </a:rPr>
              <a:t> </a:t>
            </a:r>
            <a:r>
              <a:rPr lang="en-AU" sz="2400" b="1" dirty="0" smtClean="0">
                <a:solidFill>
                  <a:srgbClr val="0133A3"/>
                </a:solidFill>
                <a:latin typeface="Arial" panose="020B0604020202020204" pitchFamily="34" charset="0"/>
                <a:cs typeface="Arial" panose="020B0604020202020204" pitchFamily="34" charset="0"/>
              </a:rPr>
              <a:t>LZW</a:t>
            </a:r>
            <a:endParaRPr lang="ru-RU" sz="2400" b="1" dirty="0">
              <a:solidFill>
                <a:srgbClr val="0133A3"/>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67DF8DA-846E-48BA-BF87-77261700AFA7}"/>
              </a:ext>
            </a:extLst>
          </p:cNvPr>
          <p:cNvSpPr txBox="1"/>
          <p:nvPr/>
        </p:nvSpPr>
        <p:spPr>
          <a:xfrm>
            <a:off x="877647" y="915690"/>
            <a:ext cx="10957166" cy="923330"/>
          </a:xfrm>
          <a:prstGeom prst="rect">
            <a:avLst/>
          </a:prstGeom>
          <a:noFill/>
        </p:spPr>
        <p:txBody>
          <a:bodyPr wrap="square" rtlCol="0">
            <a:spAutoFit/>
          </a:bodyPr>
          <a:lstStyle/>
          <a:p>
            <a:pPr rtl="0">
              <a:lnSpc>
                <a:spcPct val="150000"/>
              </a:lnSpc>
              <a:spcBef>
                <a:spcPts val="0"/>
              </a:spcBef>
              <a:spcAft>
                <a:spcPts val="0"/>
              </a:spcAft>
            </a:pPr>
            <a:r>
              <a:rPr lang="ru-RU" b="0" dirty="0">
                <a:effectLst/>
              </a:rPr>
              <a:t/>
            </a:r>
            <a:br>
              <a:rPr lang="ru-RU" b="0" dirty="0">
                <a:effectLst/>
              </a:rPr>
            </a:br>
            <a:endParaRPr lang="ru-RU" b="0" dirty="0">
              <a:effectLst/>
            </a:endParaRPr>
          </a:p>
        </p:txBody>
      </p:sp>
      <p:sp>
        <p:nvSpPr>
          <p:cNvPr id="4" name="Прямоугольник 3"/>
          <p:cNvSpPr/>
          <p:nvPr/>
        </p:nvSpPr>
        <p:spPr>
          <a:xfrm>
            <a:off x="3048000" y="197346"/>
            <a:ext cx="6096000" cy="6463308"/>
          </a:xfrm>
          <a:prstGeom prst="rect">
            <a:avLst/>
          </a:prstGeom>
        </p:spPr>
        <p:txBody>
          <a:bodyPr>
            <a:spAutoFit/>
          </a:bodyPr>
          <a:lstStyle/>
          <a:p>
            <a:r>
              <a:rPr lang="ru-RU" dirty="0"/>
              <a:t>Шаги работы кодера LZW на примере</a:t>
            </a:r>
          </a:p>
          <a:p>
            <a:r>
              <a:rPr lang="ru-RU" dirty="0"/>
              <a:t>трехсимвольного алфавита (а, б, в)</a:t>
            </a:r>
          </a:p>
          <a:p>
            <a:r>
              <a:rPr lang="ru-RU" dirty="0" smtClean="0"/>
              <a:t>Символ</a:t>
            </a:r>
            <a:r>
              <a:rPr lang="ru-RU" dirty="0"/>
              <a:t>	</a:t>
            </a:r>
            <a:r>
              <a:rPr lang="ru-RU" dirty="0" err="1"/>
              <a:t>sK</a:t>
            </a:r>
            <a:r>
              <a:rPr lang="ru-RU" dirty="0"/>
              <a:t>	</a:t>
            </a:r>
            <a:r>
              <a:rPr lang="ru-RU" dirty="0" smtClean="0"/>
              <a:t>Выход</a:t>
            </a:r>
            <a:r>
              <a:rPr lang="ru-RU" dirty="0"/>
              <a:t>	Добавление </a:t>
            </a:r>
            <a:r>
              <a:rPr lang="ru-RU"/>
              <a:t>в </a:t>
            </a:r>
            <a:r>
              <a:rPr lang="ru-RU" smtClean="0"/>
              <a:t>словарь</a:t>
            </a:r>
            <a:endParaRPr lang="ru-RU" dirty="0"/>
          </a:p>
          <a:p>
            <a:r>
              <a:rPr lang="ru-RU" dirty="0"/>
              <a:t>(фраза-позиция)</a:t>
            </a:r>
          </a:p>
          <a:p>
            <a:r>
              <a:rPr lang="ru-RU" dirty="0"/>
              <a:t>А	1		</a:t>
            </a:r>
          </a:p>
          <a:p>
            <a:r>
              <a:rPr lang="ru-RU" dirty="0"/>
              <a:t>Б	б	1	1б (4)</a:t>
            </a:r>
          </a:p>
          <a:p>
            <a:r>
              <a:rPr lang="ru-RU" dirty="0"/>
              <a:t>А	2а	2	2а (5)</a:t>
            </a:r>
          </a:p>
          <a:p>
            <a:r>
              <a:rPr lang="ru-RU" dirty="0"/>
              <a:t>Б	1б		</a:t>
            </a:r>
          </a:p>
          <a:p>
            <a:r>
              <a:rPr lang="ru-RU" dirty="0"/>
              <a:t>В	4в	4	4в (6)</a:t>
            </a:r>
          </a:p>
          <a:p>
            <a:r>
              <a:rPr lang="ru-RU" dirty="0"/>
              <a:t>Б	3б	3	3б (7)</a:t>
            </a:r>
          </a:p>
          <a:p>
            <a:r>
              <a:rPr lang="ru-RU" dirty="0"/>
              <a:t>А	2а		</a:t>
            </a:r>
          </a:p>
          <a:p>
            <a:r>
              <a:rPr lang="ru-RU" dirty="0"/>
              <a:t>Б	5б	5	5б (8)</a:t>
            </a:r>
          </a:p>
          <a:p>
            <a:r>
              <a:rPr lang="ru-RU" dirty="0"/>
              <a:t>А	2а		</a:t>
            </a:r>
          </a:p>
          <a:p>
            <a:r>
              <a:rPr lang="ru-RU" dirty="0"/>
              <a:t>Б	5б		</a:t>
            </a:r>
          </a:p>
          <a:p>
            <a:r>
              <a:rPr lang="ru-RU" dirty="0"/>
              <a:t>А	8а	8	8а (9)</a:t>
            </a:r>
          </a:p>
          <a:p>
            <a:r>
              <a:rPr lang="ru-RU" dirty="0"/>
              <a:t>А	1а	1	1а (10)</a:t>
            </a:r>
          </a:p>
          <a:p>
            <a:r>
              <a:rPr lang="ru-RU" dirty="0"/>
              <a:t>А	1а		</a:t>
            </a:r>
          </a:p>
          <a:p>
            <a:r>
              <a:rPr lang="ru-RU" dirty="0"/>
              <a:t>А	10а	10	10а (11)</a:t>
            </a:r>
          </a:p>
          <a:p>
            <a:r>
              <a:rPr lang="ru-RU" dirty="0"/>
              <a:t>А	1а		</a:t>
            </a:r>
          </a:p>
          <a:p>
            <a:r>
              <a:rPr lang="ru-RU" dirty="0"/>
              <a:t>А	10а		</a:t>
            </a:r>
          </a:p>
          <a:p>
            <a:r>
              <a:rPr lang="ru-RU" dirty="0"/>
              <a:t>А	11а	11	11а (12)</a:t>
            </a:r>
          </a:p>
          <a:p>
            <a:r>
              <a:rPr lang="ru-RU" dirty="0"/>
              <a:t>		1	</a:t>
            </a:r>
          </a:p>
          <a:p>
            <a:endParaRPr lang="ru-RU" dirty="0"/>
          </a:p>
        </p:txBody>
      </p:sp>
    </p:spTree>
    <p:extLst>
      <p:ext uri="{BB962C8B-B14F-4D97-AF65-F5344CB8AC3E}">
        <p14:creationId xmlns:p14="http://schemas.microsoft.com/office/powerpoint/2010/main" val="2965990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19477"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6647974"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История развития алгоритмов архивации</a:t>
            </a:r>
          </a:p>
        </p:txBody>
      </p:sp>
      <p:pic>
        <p:nvPicPr>
          <p:cNvPr id="19460" name="Picture 4">
            <a:extLst>
              <a:ext uri="{FF2B5EF4-FFF2-40B4-BE49-F238E27FC236}">
                <a16:creationId xmlns:a16="http://schemas.microsoft.com/office/drawing/2014/main" id="{58DAE43F-0665-40EE-9AD3-82A4173579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64" y="858839"/>
            <a:ext cx="4675758" cy="587188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6B7CEE-6DF5-4CCD-929A-37FDB7A00C13}"/>
              </a:ext>
            </a:extLst>
          </p:cNvPr>
          <p:cNvSpPr txBox="1"/>
          <p:nvPr/>
        </p:nvSpPr>
        <p:spPr>
          <a:xfrm>
            <a:off x="5605772" y="2457254"/>
            <a:ext cx="6096000" cy="2308324"/>
          </a:xfrm>
          <a:prstGeom prst="rect">
            <a:avLst/>
          </a:prstGeom>
          <a:noFill/>
        </p:spPr>
        <p:txBody>
          <a:bodyPr wrap="square">
            <a:spAutoFit/>
          </a:bodyPr>
          <a:lstStyle/>
          <a:p>
            <a:r>
              <a:rPr lang="ru-RU" sz="1800" b="0" i="0" u="none" strike="noStrike" dirty="0">
                <a:solidFill>
                  <a:srgbClr val="111111"/>
                </a:solidFill>
                <a:effectLst/>
                <a:latin typeface="Arial" panose="020B0604020202020204" pitchFamily="34" charset="0"/>
              </a:rPr>
              <a:t>Хотя сжатие данных получило широкое распространение вместе с интернетом и после изобретения алгоритмов LZ, можно привести несколько более ранних примеров сжатия.</a:t>
            </a:r>
          </a:p>
          <a:p>
            <a:endParaRPr lang="ru-RU" dirty="0">
              <a:solidFill>
                <a:srgbClr val="111111"/>
              </a:solidFill>
              <a:latin typeface="Arial" panose="020B0604020202020204" pitchFamily="34" charset="0"/>
            </a:endParaRPr>
          </a:p>
          <a:p>
            <a:pPr marL="285750" indent="-285750">
              <a:buFont typeface="Arial" panose="020B0604020202020204" pitchFamily="34" charset="0"/>
              <a:buChar char="•"/>
            </a:pPr>
            <a:r>
              <a:rPr lang="ru-RU" sz="1800" b="0" i="0" u="none" strike="noStrike" dirty="0">
                <a:solidFill>
                  <a:srgbClr val="111111"/>
                </a:solidFill>
                <a:effectLst/>
                <a:latin typeface="Arial" panose="020B0604020202020204" pitchFamily="34" charset="0"/>
              </a:rPr>
              <a:t>Морзе, изобретая свой код в 1838 году, назначил самым часто используемым буквам в английском языке, “e” и “t”, самые короткие последовательности </a:t>
            </a:r>
            <a:endParaRPr lang="ru-RU" dirty="0"/>
          </a:p>
        </p:txBody>
      </p:sp>
    </p:spTree>
    <p:extLst>
      <p:ext uri="{BB962C8B-B14F-4D97-AF65-F5344CB8AC3E}">
        <p14:creationId xmlns:p14="http://schemas.microsoft.com/office/powerpoint/2010/main" val="953723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p:cNvGraphicFramePr>
            <a:graphicFrameLocks noChangeAspect="1"/>
          </p:cNvGraphicFramePr>
          <p:nvPr/>
        </p:nvGraphicFramePr>
        <p:xfrm>
          <a:off x="590313" y="254712"/>
          <a:ext cx="11244500" cy="604127"/>
        </p:xfrm>
        <a:graphic>
          <a:graphicData uri="http://schemas.openxmlformats.org/presentationml/2006/ole">
            <mc:AlternateContent xmlns:mc="http://schemas.openxmlformats.org/markup-compatibility/2006">
              <mc:Choice xmlns:v="urn:schemas-microsoft-com:vml" Requires="v">
                <p:oleObj spid="_x0000_s20509" name="CorelDRAW" r:id="rId3" imgW="8774967" imgH="470848" progId="CorelDraw.Graphic.22">
                  <p:embed/>
                </p:oleObj>
              </mc:Choice>
              <mc:Fallback>
                <p:oleObj name="CorelDRAW" r:id="rId3" imgW="8774967" imgH="470848" progId="CorelDraw.Graphic.22">
                  <p:embed/>
                  <p:pic>
                    <p:nvPicPr>
                      <p:cNvPr id="6" name="Объект 5"/>
                      <p:cNvPicPr/>
                      <p:nvPr/>
                    </p:nvPicPr>
                    <p:blipFill>
                      <a:blip r:embed="rId4"/>
                      <a:stretch>
                        <a:fillRect/>
                      </a:stretch>
                    </p:blipFill>
                    <p:spPr>
                      <a:xfrm>
                        <a:off x="590313" y="254712"/>
                        <a:ext cx="11244500" cy="60412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03942EFA-9ED3-4D8A-B265-7970C195FCBD}"/>
              </a:ext>
            </a:extLst>
          </p:cNvPr>
          <p:cNvSpPr txBox="1"/>
          <p:nvPr/>
        </p:nvSpPr>
        <p:spPr>
          <a:xfrm>
            <a:off x="2005798" y="254712"/>
            <a:ext cx="4286623" cy="461665"/>
          </a:xfrm>
          <a:prstGeom prst="rect">
            <a:avLst/>
          </a:prstGeom>
          <a:noFill/>
        </p:spPr>
        <p:txBody>
          <a:bodyPr wrap="none" rtlCol="0">
            <a:spAutoFit/>
          </a:bodyPr>
          <a:lstStyle/>
          <a:p>
            <a:r>
              <a:rPr lang="ru-RU" sz="2400" b="1" dirty="0">
                <a:solidFill>
                  <a:srgbClr val="0133A3"/>
                </a:solidFill>
                <a:latin typeface="Arial" panose="020B0604020202020204" pitchFamily="34" charset="0"/>
                <a:cs typeface="Arial" panose="020B0604020202020204" pitchFamily="34" charset="0"/>
              </a:rPr>
              <a:t>Современные архиваторы</a:t>
            </a:r>
          </a:p>
        </p:txBody>
      </p:sp>
      <p:pic>
        <p:nvPicPr>
          <p:cNvPr id="20484" name="Picture 4" descr="WinRAR">
            <a:extLst>
              <a:ext uri="{FF2B5EF4-FFF2-40B4-BE49-F238E27FC236}">
                <a16:creationId xmlns:a16="http://schemas.microsoft.com/office/drawing/2014/main" id="{64B94184-9C09-4CEE-8465-F7AEA0EE9F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026" y="2515465"/>
            <a:ext cx="2065077" cy="2065077"/>
          </a:xfrm>
          <a:prstGeom prst="rect">
            <a:avLst/>
          </a:prstGeom>
          <a:noFill/>
          <a:extLst>
            <a:ext uri="{909E8E84-426E-40DD-AFC4-6F175D3DCCD1}">
              <a14:hiddenFill xmlns:a14="http://schemas.microsoft.com/office/drawing/2010/main">
                <a:solidFill>
                  <a:srgbClr val="FFFFFF"/>
                </a:solidFill>
              </a14:hiddenFill>
            </a:ext>
          </a:extLst>
        </p:spPr>
      </p:pic>
      <p:pic>
        <p:nvPicPr>
          <p:cNvPr id="20490" name="Picture 10" descr="7-Zip — Википедия">
            <a:extLst>
              <a:ext uri="{FF2B5EF4-FFF2-40B4-BE49-F238E27FC236}">
                <a16:creationId xmlns:a16="http://schemas.microsoft.com/office/drawing/2014/main" id="{EC6CBA90-7D9F-4619-9C3E-140D325853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9482" y="2396461"/>
            <a:ext cx="3607810" cy="2065077"/>
          </a:xfrm>
          <a:prstGeom prst="rect">
            <a:avLst/>
          </a:prstGeom>
          <a:noFill/>
          <a:extLst>
            <a:ext uri="{909E8E84-426E-40DD-AFC4-6F175D3DCCD1}">
              <a14:hiddenFill xmlns:a14="http://schemas.microsoft.com/office/drawing/2010/main">
                <a:solidFill>
                  <a:srgbClr val="FFFFFF"/>
                </a:solidFill>
              </a14:hiddenFill>
            </a:ext>
          </a:extLst>
        </p:spPr>
      </p:pic>
      <p:pic>
        <p:nvPicPr>
          <p:cNvPr id="20492" name="Picture 12" descr="GZIP open file format with box - Free interface icons">
            <a:extLst>
              <a:ext uri="{FF2B5EF4-FFF2-40B4-BE49-F238E27FC236}">
                <a16:creationId xmlns:a16="http://schemas.microsoft.com/office/drawing/2014/main" id="{C02A5C06-20AB-4220-B3FC-0404996EEA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92671" y="2396461"/>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563592"/>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E8691F8B07393A4B91CF409C6DCE171C" ma:contentTypeVersion="0" ma:contentTypeDescription="Создание документа." ma:contentTypeScope="" ma:versionID="f138b4c6d744ba1fa9a8aedb54dfd64b">
  <xsd:schema xmlns:xsd="http://www.w3.org/2001/XMLSchema" xmlns:xs="http://www.w3.org/2001/XMLSchema" xmlns:p="http://schemas.microsoft.com/office/2006/metadata/properties" targetNamespace="http://schemas.microsoft.com/office/2006/metadata/properties" ma:root="true" ma:fieldsID="66b589ae3f67a6f4566118ef2a3adee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4AFB667-316E-49C5-8263-4721E4ED215A}"/>
</file>

<file path=customXml/itemProps2.xml><?xml version="1.0" encoding="utf-8"?>
<ds:datastoreItem xmlns:ds="http://schemas.openxmlformats.org/officeDocument/2006/customXml" ds:itemID="{967A4FB1-FAA9-4D5B-BA02-FD6E77D5750E}"/>
</file>

<file path=customXml/itemProps3.xml><?xml version="1.0" encoding="utf-8"?>
<ds:datastoreItem xmlns:ds="http://schemas.openxmlformats.org/officeDocument/2006/customXml" ds:itemID="{CE766583-C784-4128-A33A-0E574CC4BDAB}"/>
</file>

<file path=docProps/app.xml><?xml version="1.0" encoding="utf-8"?>
<Properties xmlns="http://schemas.openxmlformats.org/officeDocument/2006/extended-properties" xmlns:vt="http://schemas.openxmlformats.org/officeDocument/2006/docPropsVTypes">
  <Template>Office Theme</Template>
  <TotalTime>1110</TotalTime>
  <Words>1782</Words>
  <Application>Microsoft Office PowerPoint</Application>
  <PresentationFormat>Широкоэкранный</PresentationFormat>
  <Paragraphs>265</Paragraphs>
  <Slides>29</Slides>
  <Notes>0</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29</vt:i4>
      </vt:variant>
    </vt:vector>
  </HeadingPairs>
  <TitlesOfParts>
    <vt:vector size="36" baseType="lpstr">
      <vt:lpstr>Arial</vt:lpstr>
      <vt:lpstr>Arial</vt:lpstr>
      <vt:lpstr>Calibri</vt:lpstr>
      <vt:lpstr>Calibri Light</vt:lpstr>
      <vt:lpstr>Times New Roman</vt:lpstr>
      <vt:lpstr>Office Theme</vt:lpstr>
      <vt:lpstr>CorelDRAW</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Design</dc:creator>
  <cp:lastModifiedBy>Спиричева Наталия Рахматулловна</cp:lastModifiedBy>
  <cp:revision>71</cp:revision>
  <dcterms:created xsi:type="dcterms:W3CDTF">2019-05-31T06:38:44Z</dcterms:created>
  <dcterms:modified xsi:type="dcterms:W3CDTF">2023-03-15T12:36:20Z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0x010100E8691F8B07393A4B91CF409C6DCE171C</vt:lpwstr>
  </property>
</Properties>
</file>